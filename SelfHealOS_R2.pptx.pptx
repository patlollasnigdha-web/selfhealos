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Montserrat Bold" charset="1" panose="00000800000000000000"/>
      <p:regular r:id="rId21"/>
    </p:embeddedFont>
    <p:embeddedFont>
      <p:font typeface="Fira Code" charset="1" panose="020B0809050000020004"/>
      <p:regular r:id="rId22"/>
    </p:embeddedFont>
    <p:embeddedFont>
      <p:font typeface="Fira Code Bold" charset="1" panose="020B0809050000020004"/>
      <p:regular r:id="rId23"/>
    </p:embeddedFont>
    <p:embeddedFont>
      <p:font typeface="Montserrat" charset="1" panose="000005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1.jpe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355412" y="1378934"/>
            <a:ext cx="3591024" cy="751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8"/>
              </a:lnSpc>
            </a:pPr>
            <a:r>
              <a:rPr lang="en-US" sz="4878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SelfHealOS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82806" y="2263359"/>
            <a:ext cx="10536238" cy="35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7"/>
              </a:lnSpc>
            </a:pPr>
            <a:r>
              <a:rPr lang="en-US" sz="240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AI-Based Operating System Fault Detection and Recovery System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837587" y="3023721"/>
            <a:ext cx="794299" cy="377428"/>
            <a:chOff x="0" y="0"/>
            <a:chExt cx="1059066" cy="5032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9053" cy="503174"/>
            </a:xfrm>
            <a:custGeom>
              <a:avLst/>
              <a:gdLst/>
              <a:ahLst/>
              <a:cxnLst/>
              <a:rect r="r" b="b" t="t" l="l"/>
              <a:pathLst>
                <a:path h="503174" w="1059053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1043813" y="0"/>
                  </a:lnTo>
                  <a:cubicBezTo>
                    <a:pt x="1052195" y="0"/>
                    <a:pt x="1059053" y="6858"/>
                    <a:pt x="1059053" y="15240"/>
                  </a:cubicBezTo>
                  <a:lnTo>
                    <a:pt x="1059053" y="487934"/>
                  </a:lnTo>
                  <a:cubicBezTo>
                    <a:pt x="1059053" y="496316"/>
                    <a:pt x="1052195" y="503174"/>
                    <a:pt x="1043813" y="503174"/>
                  </a:cubicBezTo>
                  <a:lnTo>
                    <a:pt x="15240" y="503174"/>
                  </a:lnTo>
                  <a:cubicBezTo>
                    <a:pt x="6858" y="503174"/>
                    <a:pt x="0" y="496316"/>
                    <a:pt x="0" y="487934"/>
                  </a:cubicBezTo>
                  <a:close/>
                </a:path>
              </a:pathLst>
            </a:custGeom>
            <a:solidFill>
              <a:srgbClr val="E4E6E7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986529" y="3098197"/>
            <a:ext cx="571897" cy="22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9"/>
              </a:lnSpc>
            </a:pPr>
            <a:r>
              <a:rPr lang="en-US" sz="1501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PBL-2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751187" y="3018958"/>
            <a:ext cx="1995059" cy="386953"/>
            <a:chOff x="0" y="0"/>
            <a:chExt cx="2660078" cy="5159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60015" cy="515876"/>
            </a:xfrm>
            <a:custGeom>
              <a:avLst/>
              <a:gdLst/>
              <a:ahLst/>
              <a:cxnLst/>
              <a:rect r="r" b="b" t="t" l="l"/>
              <a:pathLst>
                <a:path h="515876" w="2660015">
                  <a:moveTo>
                    <a:pt x="0" y="15621"/>
                  </a:moveTo>
                  <a:cubicBezTo>
                    <a:pt x="0" y="6985"/>
                    <a:pt x="6985" y="0"/>
                    <a:pt x="15621" y="0"/>
                  </a:cubicBezTo>
                  <a:lnTo>
                    <a:pt x="2644394" y="0"/>
                  </a:lnTo>
                  <a:cubicBezTo>
                    <a:pt x="2653030" y="0"/>
                    <a:pt x="2660015" y="6985"/>
                    <a:pt x="2660015" y="15621"/>
                  </a:cubicBezTo>
                  <a:lnTo>
                    <a:pt x="2660015" y="500253"/>
                  </a:lnTo>
                  <a:cubicBezTo>
                    <a:pt x="2660015" y="508889"/>
                    <a:pt x="2653030" y="515874"/>
                    <a:pt x="2644394" y="515874"/>
                  </a:cubicBezTo>
                  <a:lnTo>
                    <a:pt x="15621" y="515874"/>
                  </a:lnTo>
                  <a:cubicBezTo>
                    <a:pt x="6985" y="516001"/>
                    <a:pt x="0" y="508889"/>
                    <a:pt x="0" y="50025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467" r="-2" b="-50479"/>
              </a:stretch>
            </a:blipFill>
            <a:ln w="9532" cap="sq">
              <a:solidFill>
                <a:srgbClr val="151617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6819384" y="3108156"/>
            <a:ext cx="1814909" cy="208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4"/>
              </a:lnSpc>
            </a:pPr>
            <a:r>
              <a:rPr lang="en-US" sz="1401" b="true">
                <a:solidFill>
                  <a:srgbClr val="151617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LITERATURE REVIEW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860784" y="3018958"/>
            <a:ext cx="2041499" cy="386953"/>
            <a:chOff x="0" y="0"/>
            <a:chExt cx="2721999" cy="5159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21934" cy="515876"/>
            </a:xfrm>
            <a:custGeom>
              <a:avLst/>
              <a:gdLst/>
              <a:ahLst/>
              <a:cxnLst/>
              <a:rect r="r" b="b" t="t" l="l"/>
              <a:pathLst>
                <a:path h="515876" w="2721934">
                  <a:moveTo>
                    <a:pt x="0" y="15621"/>
                  </a:moveTo>
                  <a:cubicBezTo>
                    <a:pt x="0" y="6985"/>
                    <a:pt x="7148" y="0"/>
                    <a:pt x="15985" y="0"/>
                  </a:cubicBezTo>
                  <a:lnTo>
                    <a:pt x="2705950" y="0"/>
                  </a:lnTo>
                  <a:cubicBezTo>
                    <a:pt x="2714787" y="0"/>
                    <a:pt x="2721934" y="6985"/>
                    <a:pt x="2721934" y="15621"/>
                  </a:cubicBezTo>
                  <a:lnTo>
                    <a:pt x="2721934" y="500253"/>
                  </a:lnTo>
                  <a:cubicBezTo>
                    <a:pt x="2721934" y="508889"/>
                    <a:pt x="2714787" y="515874"/>
                    <a:pt x="2705950" y="515874"/>
                  </a:cubicBezTo>
                  <a:lnTo>
                    <a:pt x="15985" y="515874"/>
                  </a:lnTo>
                  <a:cubicBezTo>
                    <a:pt x="7148" y="516001"/>
                    <a:pt x="0" y="508889"/>
                    <a:pt x="0" y="50025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467" r="2272" b="-50479"/>
              </a:stretch>
            </a:blipFill>
            <a:ln w="9532" cap="sq">
              <a:solidFill>
                <a:srgbClr val="151617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8936746" y="3098197"/>
            <a:ext cx="1944489" cy="22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9"/>
              </a:lnSpc>
            </a:pPr>
            <a:r>
              <a:rPr lang="en-US" sz="1501" b="true">
                <a:solidFill>
                  <a:srgbClr val="151617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CRITICAL ANALYSIS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970381" y="3018958"/>
            <a:ext cx="1583766" cy="386953"/>
            <a:chOff x="0" y="0"/>
            <a:chExt cx="2111688" cy="51593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11714" cy="515876"/>
            </a:xfrm>
            <a:custGeom>
              <a:avLst/>
              <a:gdLst/>
              <a:ahLst/>
              <a:cxnLst/>
              <a:rect r="r" b="b" t="t" l="l"/>
              <a:pathLst>
                <a:path h="515876" w="2111714">
                  <a:moveTo>
                    <a:pt x="0" y="15621"/>
                  </a:moveTo>
                  <a:cubicBezTo>
                    <a:pt x="0" y="6985"/>
                    <a:pt x="7382" y="0"/>
                    <a:pt x="16508" y="0"/>
                  </a:cubicBezTo>
                  <a:lnTo>
                    <a:pt x="2095207" y="0"/>
                  </a:lnTo>
                  <a:cubicBezTo>
                    <a:pt x="2104334" y="0"/>
                    <a:pt x="2111714" y="6985"/>
                    <a:pt x="2111714" y="15621"/>
                  </a:cubicBezTo>
                  <a:lnTo>
                    <a:pt x="2111714" y="500253"/>
                  </a:lnTo>
                  <a:cubicBezTo>
                    <a:pt x="2111714" y="508889"/>
                    <a:pt x="2104334" y="515874"/>
                    <a:pt x="2095207" y="515874"/>
                  </a:cubicBezTo>
                  <a:lnTo>
                    <a:pt x="16508" y="515874"/>
                  </a:lnTo>
                  <a:cubicBezTo>
                    <a:pt x="7382" y="516001"/>
                    <a:pt x="0" y="508889"/>
                    <a:pt x="0" y="50025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7" r="5375" b="-25479"/>
              </a:stretch>
            </a:blipFill>
            <a:ln w="9532" cap="sq">
              <a:solidFill>
                <a:srgbClr val="151617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1046343" y="3098197"/>
            <a:ext cx="1372592" cy="22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9"/>
              </a:lnSpc>
            </a:pPr>
            <a:r>
              <a:rPr lang="en-US" sz="1501" b="true">
                <a:solidFill>
                  <a:srgbClr val="151617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GAP ANALYSIS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92991" y="3742382"/>
            <a:ext cx="16315868" cy="28594"/>
            <a:chOff x="0" y="0"/>
            <a:chExt cx="21754490" cy="381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754464" cy="38100"/>
            </a:xfrm>
            <a:custGeom>
              <a:avLst/>
              <a:gdLst/>
              <a:ahLst/>
              <a:cxnLst/>
              <a:rect r="r" b="b" t="t" l="l"/>
              <a:pathLst>
                <a:path h="38100" w="2175446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1735414" y="0"/>
                  </a:lnTo>
                  <a:cubicBezTo>
                    <a:pt x="21745955" y="0"/>
                    <a:pt x="21754464" y="8509"/>
                    <a:pt x="21754464" y="19050"/>
                  </a:cubicBezTo>
                  <a:cubicBezTo>
                    <a:pt x="21754464" y="29591"/>
                    <a:pt x="21745955" y="38100"/>
                    <a:pt x="2173541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51617">
                <a:alpha val="24706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14254" y="4112209"/>
            <a:ext cx="8212598" cy="4794228"/>
            <a:chOff x="0" y="0"/>
            <a:chExt cx="10950130" cy="63923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50067" cy="6392291"/>
            </a:xfrm>
            <a:custGeom>
              <a:avLst/>
              <a:gdLst/>
              <a:ahLst/>
              <a:cxnLst/>
              <a:rect r="r" b="b" t="t" l="l"/>
              <a:pathLst>
                <a:path h="6392291" w="10950067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10934827" y="0"/>
                  </a:lnTo>
                  <a:cubicBezTo>
                    <a:pt x="10943209" y="0"/>
                    <a:pt x="10950067" y="6858"/>
                    <a:pt x="10950067" y="15240"/>
                  </a:cubicBezTo>
                  <a:lnTo>
                    <a:pt x="10950067" y="6377051"/>
                  </a:lnTo>
                  <a:cubicBezTo>
                    <a:pt x="10950067" y="6385433"/>
                    <a:pt x="10943209" y="6392291"/>
                    <a:pt x="10934827" y="6392291"/>
                  </a:cubicBezTo>
                  <a:lnTo>
                    <a:pt x="15240" y="6392291"/>
                  </a:lnTo>
                  <a:cubicBezTo>
                    <a:pt x="6858" y="6392291"/>
                    <a:pt x="0" y="6385433"/>
                    <a:pt x="0" y="6377051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92991" y="4433602"/>
            <a:ext cx="2536329" cy="38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3"/>
              </a:lnSpc>
            </a:pPr>
            <a:r>
              <a:rPr lang="en-US" sz="247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Research Team</a:t>
            </a:r>
          </a:p>
        </p:txBody>
      </p: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814254" y="4843605"/>
          <a:ext cx="8200234" cy="4174280"/>
        </p:xfrm>
        <a:graphic>
          <a:graphicData uri="http://schemas.openxmlformats.org/drawingml/2006/table">
            <a:tbl>
              <a:tblPr/>
              <a:tblGrid>
                <a:gridCol w="4100117"/>
                <a:gridCol w="4100117"/>
              </a:tblGrid>
              <a:tr h="10435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FFFFFF"/>
                          </a:solidFill>
                          <a:latin typeface="Fira Code Bold"/>
                          <a:ea typeface="Fira Code Bold"/>
                          <a:cs typeface="Fira Code Bold"/>
                          <a:sym typeface="Fira Code Bold"/>
                        </a:rPr>
                        <a:t>2510030269</a:t>
                      </a:r>
                      <a:endParaRPr lang="en-US" sz="1100"/>
                    </a:p>
                  </a:txBody>
                  <a:tcPr marL="165391" marR="165391" marT="165391" marB="165391" anchor="ctr">
                    <a:lnL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FFFFFF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Snigdha</a:t>
                      </a:r>
                      <a:endParaRPr lang="en-US" sz="1100"/>
                    </a:p>
                  </a:txBody>
                  <a:tcPr marL="165391" marR="165391" marT="165391" marB="165391" anchor="ctr">
                    <a:lnL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7"/>
                    </a:solidFill>
                  </a:tcPr>
                </a:tc>
              </a:tr>
              <a:tr h="10435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FFFFFF"/>
                          </a:solidFill>
                          <a:latin typeface="Fira Code Bold"/>
                          <a:ea typeface="Fira Code Bold"/>
                          <a:cs typeface="Fira Code Bold"/>
                          <a:sym typeface="Fira Code Bold"/>
                        </a:rPr>
                        <a:t>2510030331</a:t>
                      </a:r>
                      <a:endParaRPr lang="en-US" sz="1100"/>
                    </a:p>
                  </a:txBody>
                  <a:tcPr marL="165391" marR="165391" marT="165391" marB="165391" anchor="ctr">
                    <a:lnL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FFFFFF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Sriya Aditi</a:t>
                      </a:r>
                      <a:endParaRPr lang="en-US" sz="1100"/>
                    </a:p>
                  </a:txBody>
                  <a:tcPr marL="165391" marR="165391" marT="165391" marB="165391" anchor="ctr">
                    <a:lnL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7"/>
                    </a:solidFill>
                  </a:tcPr>
                </a:tc>
              </a:tr>
              <a:tr h="10435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FFFFFF"/>
                          </a:solidFill>
                          <a:latin typeface="Fira Code Bold"/>
                          <a:ea typeface="Fira Code Bold"/>
                          <a:cs typeface="Fira Code Bold"/>
                          <a:sym typeface="Fira Code Bold"/>
                        </a:rPr>
                        <a:t>2510030164</a:t>
                      </a:r>
                      <a:endParaRPr lang="en-US" sz="1100"/>
                    </a:p>
                  </a:txBody>
                  <a:tcPr marL="165391" marR="165391" marT="165391" marB="165391" anchor="ctr">
                    <a:lnL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FFFFFF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Deekshith</a:t>
                      </a:r>
                      <a:endParaRPr lang="en-US" sz="1100"/>
                    </a:p>
                  </a:txBody>
                  <a:tcPr marL="165391" marR="165391" marT="165391" marB="165391" anchor="ctr">
                    <a:lnL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7"/>
                    </a:solidFill>
                  </a:tcPr>
                </a:tc>
              </a:tr>
              <a:tr h="10435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FFFFFF"/>
                          </a:solidFill>
                          <a:latin typeface="Fira Code Bold"/>
                          <a:ea typeface="Fira Code Bold"/>
                          <a:cs typeface="Fira Code Bold"/>
                          <a:sym typeface="Fira Code Bold"/>
                        </a:rPr>
                        <a:t>2510030156</a:t>
                      </a:r>
                      <a:endParaRPr lang="en-US" sz="1100"/>
                    </a:p>
                  </a:txBody>
                  <a:tcPr marL="165391" marR="165391" marT="165391" marB="165391" anchor="ctr">
                    <a:lnL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FFFFFF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Sai Charan</a:t>
                      </a:r>
                      <a:endParaRPr lang="en-US" sz="1100"/>
                    </a:p>
                  </a:txBody>
                  <a:tcPr marL="165391" marR="165391" marT="165391" marB="165391" anchor="ctr">
                    <a:lnL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7"/>
                    </a:solidFill>
                  </a:tcPr>
                </a:tc>
              </a:tr>
            </a:tbl>
          </a:graphicData>
        </a:graphic>
      </p:graphicFrame>
      <p:sp>
        <p:nvSpPr>
          <p:cNvPr name="TextBox 26" id="26"/>
          <p:cNvSpPr txBox="true"/>
          <p:nvPr/>
        </p:nvSpPr>
        <p:spPr>
          <a:xfrm rot="0">
            <a:off x="9463249" y="4360354"/>
            <a:ext cx="2217341" cy="35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Scope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63249" y="4767405"/>
            <a:ext cx="7606998" cy="2424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80"/>
              </a:lnSpc>
            </a:pPr>
            <a:r>
              <a:rPr lang="en-US" sz="2055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SelfHealOS proposes a unified, lightweight, OS-native pipeline that integrates real-time monitoring, ML-based fault classification, automated recovery, and post-recovery verification — a capability gap confirmed across the 2024–2026 literature.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463249" y="7261936"/>
            <a:ext cx="7855134" cy="1365228"/>
            <a:chOff x="0" y="0"/>
            <a:chExt cx="10473512" cy="182030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473563" cy="1820291"/>
            </a:xfrm>
            <a:custGeom>
              <a:avLst/>
              <a:gdLst/>
              <a:ahLst/>
              <a:cxnLst/>
              <a:rect r="r" b="b" t="t" l="l"/>
              <a:pathLst>
                <a:path h="1820291" w="10473563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10458323" y="0"/>
                  </a:lnTo>
                  <a:cubicBezTo>
                    <a:pt x="10466705" y="0"/>
                    <a:pt x="10473563" y="6858"/>
                    <a:pt x="10473563" y="15240"/>
                  </a:cubicBezTo>
                  <a:lnTo>
                    <a:pt x="10473563" y="1805051"/>
                  </a:lnTo>
                  <a:cubicBezTo>
                    <a:pt x="10473563" y="1813433"/>
                    <a:pt x="10466705" y="1820291"/>
                    <a:pt x="10458323" y="1820291"/>
                  </a:cubicBezTo>
                  <a:lnTo>
                    <a:pt x="15240" y="1820291"/>
                  </a:lnTo>
                  <a:cubicBezTo>
                    <a:pt x="6858" y="1820291"/>
                    <a:pt x="0" y="1813433"/>
                    <a:pt x="0" y="1805051"/>
                  </a:cubicBezTo>
                  <a:close/>
                </a:path>
              </a:pathLst>
            </a:custGeom>
            <a:solidFill>
              <a:srgbClr val="E4E6E7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711385" y="7631316"/>
            <a:ext cx="310239" cy="248145"/>
            <a:chOff x="0" y="0"/>
            <a:chExt cx="413652" cy="33086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413639" cy="330835"/>
            </a:xfrm>
            <a:custGeom>
              <a:avLst/>
              <a:gdLst/>
              <a:ahLst/>
              <a:cxnLst/>
              <a:rect r="r" b="b" t="t" l="l"/>
              <a:pathLst>
                <a:path h="330835" w="413639">
                  <a:moveTo>
                    <a:pt x="0" y="0"/>
                  </a:moveTo>
                  <a:lnTo>
                    <a:pt x="413639" y="0"/>
                  </a:lnTo>
                  <a:lnTo>
                    <a:pt x="413639" y="330835"/>
                  </a:lnTo>
                  <a:lnTo>
                    <a:pt x="0" y="330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47" r="-3" b="-1151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269760" y="7471115"/>
            <a:ext cx="6800488" cy="759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No existing system unifies all four pipeline stages at the OS level.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73039"/>
            <a:ext cx="14461034" cy="604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3903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Intelligent OS Fault Detection Becomes Necessary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991" y="1852574"/>
            <a:ext cx="8752208" cy="1816675"/>
          </a:xfrm>
          <a:custGeom>
            <a:avLst/>
            <a:gdLst/>
            <a:ahLst/>
            <a:cxnLst/>
            <a:rect r="r" b="b" t="t" l="l"/>
            <a:pathLst>
              <a:path h="1816675" w="8752208">
                <a:moveTo>
                  <a:pt x="0" y="0"/>
                </a:moveTo>
                <a:lnTo>
                  <a:pt x="8752208" y="0"/>
                </a:lnTo>
                <a:lnTo>
                  <a:pt x="8752208" y="1816675"/>
                </a:lnTo>
                <a:lnTo>
                  <a:pt x="0" y="18166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4" r="0" b="-63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37634" y="1997212"/>
            <a:ext cx="1675706" cy="31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Fault Origins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7634" y="2371292"/>
            <a:ext cx="8008949" cy="1220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62"/>
              </a:lnSpc>
            </a:pPr>
            <a:r>
              <a:rPr lang="en-US" sz="1695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OS faults originate from CPU overload, memory pressure, disk and resource exhaustion, and abnormal process behaviour — often compounding silently before system degradation becomes visible.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92991" y="3833089"/>
            <a:ext cx="8752208" cy="1816675"/>
          </a:xfrm>
          <a:custGeom>
            <a:avLst/>
            <a:gdLst/>
            <a:ahLst/>
            <a:cxnLst/>
            <a:rect r="r" b="b" t="t" l="l"/>
            <a:pathLst>
              <a:path h="1816675" w="8752208">
                <a:moveTo>
                  <a:pt x="0" y="0"/>
                </a:moveTo>
                <a:lnTo>
                  <a:pt x="8752208" y="0"/>
                </a:lnTo>
                <a:lnTo>
                  <a:pt x="8752208" y="1816674"/>
                </a:lnTo>
                <a:lnTo>
                  <a:pt x="0" y="18166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4" r="0" b="-63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37634" y="3977630"/>
            <a:ext cx="3499049" cy="31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Self-Healing Requirements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7634" y="4346969"/>
            <a:ext cx="8177298" cy="1202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68"/>
              </a:lnSpc>
            </a:pPr>
            <a:r>
              <a:rPr lang="en-US" sz="1700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A self-healing OS demands four continuous capabilities: real-time monitoring, intelligent fault detection, automated recovery execution, and post-recovery verification to confirm system stability.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92991" y="5813603"/>
            <a:ext cx="8752208" cy="1816675"/>
          </a:xfrm>
          <a:custGeom>
            <a:avLst/>
            <a:gdLst/>
            <a:ahLst/>
            <a:cxnLst/>
            <a:rect r="r" b="b" t="t" l="l"/>
            <a:pathLst>
              <a:path h="1816675" w="8752208">
                <a:moveTo>
                  <a:pt x="0" y="0"/>
                </a:moveTo>
                <a:lnTo>
                  <a:pt x="8752208" y="0"/>
                </a:lnTo>
                <a:lnTo>
                  <a:pt x="8752208" y="1816674"/>
                </a:lnTo>
                <a:lnTo>
                  <a:pt x="0" y="18166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4" r="0" b="-6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37634" y="5929570"/>
            <a:ext cx="3499049" cy="31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Traditional Monitoring Gap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7634" y="6298673"/>
            <a:ext cx="8177298" cy="898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68"/>
              </a:lnSpc>
            </a:pPr>
            <a:r>
              <a:rPr lang="en-US" sz="1700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Conventional monitoring tools detect symptoms but cannot intelligently classify fault type, determine severity, or autonomously initiate the correct recovery action.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92991" y="7794117"/>
            <a:ext cx="8752208" cy="1524295"/>
          </a:xfrm>
          <a:custGeom>
            <a:avLst/>
            <a:gdLst/>
            <a:ahLst/>
            <a:cxnLst/>
            <a:rect r="r" b="b" t="t" l="l"/>
            <a:pathLst>
              <a:path h="1524295" w="8752208">
                <a:moveTo>
                  <a:pt x="0" y="0"/>
                </a:moveTo>
                <a:lnTo>
                  <a:pt x="8752208" y="0"/>
                </a:lnTo>
                <a:lnTo>
                  <a:pt x="8752208" y="1524295"/>
                </a:lnTo>
                <a:lnTo>
                  <a:pt x="0" y="15242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240" r="0" b="-241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37634" y="7935077"/>
            <a:ext cx="3340398" cy="31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Motivation for SelfHealOS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7634" y="8374437"/>
            <a:ext cx="8177298" cy="898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68"/>
              </a:lnSpc>
            </a:pPr>
            <a:r>
              <a:rPr lang="en-US" sz="1700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No existing lightweight, OS-level system unifies these four stages into a single pipeline — creating a clear and addressable research gap.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242061" y="1847802"/>
            <a:ext cx="3463319" cy="1203322"/>
            <a:chOff x="0" y="0"/>
            <a:chExt cx="4617758" cy="16044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617720" cy="1604391"/>
            </a:xfrm>
            <a:custGeom>
              <a:avLst/>
              <a:gdLst/>
              <a:ahLst/>
              <a:cxnLst/>
              <a:rect r="r" b="b" t="t" l="l"/>
              <a:pathLst>
                <a:path h="1604391" w="4617720">
                  <a:moveTo>
                    <a:pt x="0" y="15367"/>
                  </a:moveTo>
                  <a:cubicBezTo>
                    <a:pt x="0" y="6858"/>
                    <a:pt x="6858" y="0"/>
                    <a:pt x="15367" y="0"/>
                  </a:cubicBezTo>
                  <a:lnTo>
                    <a:pt x="4602353" y="0"/>
                  </a:lnTo>
                  <a:cubicBezTo>
                    <a:pt x="4610862" y="0"/>
                    <a:pt x="4617720" y="6858"/>
                    <a:pt x="4617720" y="15367"/>
                  </a:cubicBezTo>
                  <a:lnTo>
                    <a:pt x="4617720" y="1589024"/>
                  </a:lnTo>
                  <a:cubicBezTo>
                    <a:pt x="4617720" y="1597533"/>
                    <a:pt x="4610862" y="1604391"/>
                    <a:pt x="4602353" y="1604391"/>
                  </a:cubicBezTo>
                  <a:lnTo>
                    <a:pt x="15367" y="1604391"/>
                  </a:lnTo>
                  <a:cubicBezTo>
                    <a:pt x="6858" y="1604391"/>
                    <a:pt x="0" y="1597533"/>
                    <a:pt x="0" y="1589024"/>
                  </a:cubicBezTo>
                  <a:close/>
                </a:path>
              </a:pathLst>
            </a:custGeom>
            <a:solidFill>
              <a:srgbClr val="F8ECE4"/>
            </a:solidFill>
            <a:ln w="9532" cap="sq">
              <a:solidFill>
                <a:srgbClr val="151617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0458021" y="2044722"/>
            <a:ext cx="916087" cy="31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Stage 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58021" y="2514209"/>
            <a:ext cx="3031388" cy="26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576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Real-Time Monitoring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242061" y="4561161"/>
            <a:ext cx="3463319" cy="1203322"/>
            <a:chOff x="0" y="0"/>
            <a:chExt cx="4617758" cy="16044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617720" cy="1604391"/>
            </a:xfrm>
            <a:custGeom>
              <a:avLst/>
              <a:gdLst/>
              <a:ahLst/>
              <a:cxnLst/>
              <a:rect r="r" b="b" t="t" l="l"/>
              <a:pathLst>
                <a:path h="1604391" w="4617720">
                  <a:moveTo>
                    <a:pt x="0" y="15367"/>
                  </a:moveTo>
                  <a:cubicBezTo>
                    <a:pt x="0" y="6858"/>
                    <a:pt x="6858" y="0"/>
                    <a:pt x="15367" y="0"/>
                  </a:cubicBezTo>
                  <a:lnTo>
                    <a:pt x="4602353" y="0"/>
                  </a:lnTo>
                  <a:cubicBezTo>
                    <a:pt x="4610862" y="0"/>
                    <a:pt x="4617720" y="6858"/>
                    <a:pt x="4617720" y="15367"/>
                  </a:cubicBezTo>
                  <a:lnTo>
                    <a:pt x="4617720" y="1589024"/>
                  </a:lnTo>
                  <a:cubicBezTo>
                    <a:pt x="4617720" y="1597533"/>
                    <a:pt x="4610862" y="1604391"/>
                    <a:pt x="4602353" y="1604391"/>
                  </a:cubicBezTo>
                  <a:lnTo>
                    <a:pt x="15367" y="1604391"/>
                  </a:lnTo>
                  <a:cubicBezTo>
                    <a:pt x="6858" y="1604391"/>
                    <a:pt x="0" y="1597533"/>
                    <a:pt x="0" y="1589024"/>
                  </a:cubicBezTo>
                  <a:close/>
                </a:path>
              </a:pathLst>
            </a:custGeom>
            <a:solidFill>
              <a:srgbClr val="F8ECE4"/>
            </a:solidFill>
            <a:ln w="9532" cap="sq">
              <a:solidFill>
                <a:srgbClr val="151617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0458021" y="4722376"/>
            <a:ext cx="965597" cy="31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Stage 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58021" y="5100815"/>
            <a:ext cx="3031388" cy="549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576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Au</a:t>
            </a:r>
            <a:r>
              <a:rPr lang="en-US" sz="1576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tomated Recovery</a:t>
            </a:r>
          </a:p>
          <a:p>
            <a:pPr algn="l">
              <a:lnSpc>
                <a:spcPts val="2288"/>
              </a:lnSpc>
            </a:pPr>
          </a:p>
        </p:txBody>
      </p:sp>
      <p:grpSp>
        <p:nvGrpSpPr>
          <p:cNvPr name="Group 27" id="27"/>
          <p:cNvGrpSpPr/>
          <p:nvPr/>
        </p:nvGrpSpPr>
        <p:grpSpPr>
          <a:xfrm rot="0">
            <a:off x="10242061" y="3205439"/>
            <a:ext cx="3463319" cy="1203322"/>
            <a:chOff x="0" y="0"/>
            <a:chExt cx="4617758" cy="160442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17720" cy="1604391"/>
            </a:xfrm>
            <a:custGeom>
              <a:avLst/>
              <a:gdLst/>
              <a:ahLst/>
              <a:cxnLst/>
              <a:rect r="r" b="b" t="t" l="l"/>
              <a:pathLst>
                <a:path h="1604391" w="4617720">
                  <a:moveTo>
                    <a:pt x="0" y="15367"/>
                  </a:moveTo>
                  <a:cubicBezTo>
                    <a:pt x="0" y="6858"/>
                    <a:pt x="6858" y="0"/>
                    <a:pt x="15367" y="0"/>
                  </a:cubicBezTo>
                  <a:lnTo>
                    <a:pt x="4602353" y="0"/>
                  </a:lnTo>
                  <a:cubicBezTo>
                    <a:pt x="4610862" y="0"/>
                    <a:pt x="4617720" y="6858"/>
                    <a:pt x="4617720" y="15367"/>
                  </a:cubicBezTo>
                  <a:lnTo>
                    <a:pt x="4617720" y="1589024"/>
                  </a:lnTo>
                  <a:cubicBezTo>
                    <a:pt x="4617720" y="1597533"/>
                    <a:pt x="4610862" y="1604391"/>
                    <a:pt x="4602353" y="1604391"/>
                  </a:cubicBezTo>
                  <a:lnTo>
                    <a:pt x="15367" y="1604391"/>
                  </a:lnTo>
                  <a:cubicBezTo>
                    <a:pt x="6858" y="1604391"/>
                    <a:pt x="0" y="1597533"/>
                    <a:pt x="0" y="1589024"/>
                  </a:cubicBezTo>
                  <a:close/>
                </a:path>
              </a:pathLst>
            </a:custGeom>
            <a:solidFill>
              <a:srgbClr val="F8ECE4"/>
            </a:solidFill>
            <a:ln w="9532" cap="sq">
              <a:solidFill>
                <a:srgbClr val="151617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0458021" y="3402359"/>
            <a:ext cx="965101" cy="31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Stage 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58021" y="3804514"/>
            <a:ext cx="3031388" cy="549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576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In</a:t>
            </a:r>
            <a:r>
              <a:rPr lang="en-US" sz="1576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telligent Fault Detection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242056" y="5916882"/>
            <a:ext cx="3463319" cy="1203322"/>
            <a:chOff x="0" y="0"/>
            <a:chExt cx="4617758" cy="160442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17720" cy="1604391"/>
            </a:xfrm>
            <a:custGeom>
              <a:avLst/>
              <a:gdLst/>
              <a:ahLst/>
              <a:cxnLst/>
              <a:rect r="r" b="b" t="t" l="l"/>
              <a:pathLst>
                <a:path h="1604391" w="4617720">
                  <a:moveTo>
                    <a:pt x="0" y="15367"/>
                  </a:moveTo>
                  <a:cubicBezTo>
                    <a:pt x="0" y="6858"/>
                    <a:pt x="6858" y="0"/>
                    <a:pt x="15367" y="0"/>
                  </a:cubicBezTo>
                  <a:lnTo>
                    <a:pt x="4602353" y="0"/>
                  </a:lnTo>
                  <a:cubicBezTo>
                    <a:pt x="4610862" y="0"/>
                    <a:pt x="4617720" y="6858"/>
                    <a:pt x="4617720" y="15367"/>
                  </a:cubicBezTo>
                  <a:lnTo>
                    <a:pt x="4617720" y="1589024"/>
                  </a:lnTo>
                  <a:cubicBezTo>
                    <a:pt x="4617720" y="1597533"/>
                    <a:pt x="4610862" y="1604391"/>
                    <a:pt x="4602353" y="1604391"/>
                  </a:cubicBezTo>
                  <a:lnTo>
                    <a:pt x="15367" y="1604391"/>
                  </a:lnTo>
                  <a:cubicBezTo>
                    <a:pt x="6858" y="1604391"/>
                    <a:pt x="0" y="1597533"/>
                    <a:pt x="0" y="1589024"/>
                  </a:cubicBezTo>
                  <a:close/>
                </a:path>
              </a:pathLst>
            </a:custGeom>
            <a:solidFill>
              <a:srgbClr val="F8ECE4"/>
            </a:solidFill>
            <a:ln w="9532" cap="sq">
              <a:solidFill>
                <a:srgbClr val="151617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0458026" y="6069282"/>
            <a:ext cx="989707" cy="31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Stage 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458026" y="6432838"/>
            <a:ext cx="3031388" cy="549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576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Post-Recovery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55904"/>
            <a:ext cx="10424320" cy="696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0"/>
              </a:lnSpc>
            </a:pPr>
            <a:r>
              <a:rPr lang="en-US" sz="4503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Existing Work Was Evaluated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998555"/>
            <a:ext cx="7878813" cy="376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Evaluation Dimensions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8219" y="2607716"/>
            <a:ext cx="524418" cy="524437"/>
            <a:chOff x="0" y="0"/>
            <a:chExt cx="699224" cy="6992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9135" cy="699262"/>
            </a:xfrm>
            <a:custGeom>
              <a:avLst/>
              <a:gdLst/>
              <a:ahLst/>
              <a:cxnLst/>
              <a:rect r="r" b="b" t="t" l="l"/>
              <a:pathLst>
                <a:path h="699262" w="699135">
                  <a:moveTo>
                    <a:pt x="0" y="15494"/>
                  </a:moveTo>
                  <a:cubicBezTo>
                    <a:pt x="0" y="6985"/>
                    <a:pt x="6985" y="0"/>
                    <a:pt x="15494" y="0"/>
                  </a:cubicBezTo>
                  <a:lnTo>
                    <a:pt x="683641" y="0"/>
                  </a:lnTo>
                  <a:cubicBezTo>
                    <a:pt x="692277" y="0"/>
                    <a:pt x="699135" y="6985"/>
                    <a:pt x="699135" y="15494"/>
                  </a:cubicBezTo>
                  <a:lnTo>
                    <a:pt x="699135" y="683768"/>
                  </a:lnTo>
                  <a:cubicBezTo>
                    <a:pt x="699135" y="692404"/>
                    <a:pt x="692150" y="699262"/>
                    <a:pt x="683641" y="699262"/>
                  </a:cubicBezTo>
                  <a:lnTo>
                    <a:pt x="15494" y="699262"/>
                  </a:lnTo>
                  <a:cubicBezTo>
                    <a:pt x="6985" y="699262"/>
                    <a:pt x="0" y="692277"/>
                    <a:pt x="0" y="683768"/>
                  </a:cubicBezTo>
                  <a:close/>
                </a:path>
              </a:pathLst>
            </a:custGeom>
            <a:solidFill>
              <a:srgbClr val="F8ECE4"/>
            </a:solidFill>
            <a:ln w="9532" cap="sq">
              <a:solidFill>
                <a:srgbClr val="15161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78706" y="2655303"/>
            <a:ext cx="343310" cy="429111"/>
            <a:chOff x="0" y="0"/>
            <a:chExt cx="457746" cy="5721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7744" cy="572145"/>
            </a:xfrm>
            <a:custGeom>
              <a:avLst/>
              <a:gdLst/>
              <a:ahLst/>
              <a:cxnLst/>
              <a:rect r="r" b="b" t="t" l="l"/>
              <a:pathLst>
                <a:path h="572145" w="457744">
                  <a:moveTo>
                    <a:pt x="0" y="0"/>
                  </a:moveTo>
                  <a:lnTo>
                    <a:pt x="457744" y="0"/>
                  </a:lnTo>
                  <a:lnTo>
                    <a:pt x="457744" y="572145"/>
                  </a:lnTo>
                  <a:lnTo>
                    <a:pt x="0" y="5721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0" t="0" r="-11037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57746" cy="5721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1516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18777" y="2672077"/>
            <a:ext cx="3670399" cy="35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Approach &amp; Data Source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8777" y="3202496"/>
            <a:ext cx="7153027" cy="66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What data or signals does the method rely on — logs, metrics, process state?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88219" y="4380757"/>
            <a:ext cx="524418" cy="524437"/>
            <a:chOff x="0" y="0"/>
            <a:chExt cx="699224" cy="6992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9135" cy="699262"/>
            </a:xfrm>
            <a:custGeom>
              <a:avLst/>
              <a:gdLst/>
              <a:ahLst/>
              <a:cxnLst/>
              <a:rect r="r" b="b" t="t" l="l"/>
              <a:pathLst>
                <a:path h="699262" w="699135">
                  <a:moveTo>
                    <a:pt x="0" y="15494"/>
                  </a:moveTo>
                  <a:cubicBezTo>
                    <a:pt x="0" y="6985"/>
                    <a:pt x="6985" y="0"/>
                    <a:pt x="15494" y="0"/>
                  </a:cubicBezTo>
                  <a:lnTo>
                    <a:pt x="683641" y="0"/>
                  </a:lnTo>
                  <a:cubicBezTo>
                    <a:pt x="692277" y="0"/>
                    <a:pt x="699135" y="6985"/>
                    <a:pt x="699135" y="15494"/>
                  </a:cubicBezTo>
                  <a:lnTo>
                    <a:pt x="699135" y="683768"/>
                  </a:lnTo>
                  <a:cubicBezTo>
                    <a:pt x="699135" y="692404"/>
                    <a:pt x="692150" y="699262"/>
                    <a:pt x="683641" y="699262"/>
                  </a:cubicBezTo>
                  <a:lnTo>
                    <a:pt x="15494" y="699262"/>
                  </a:lnTo>
                  <a:cubicBezTo>
                    <a:pt x="6985" y="699262"/>
                    <a:pt x="0" y="692277"/>
                    <a:pt x="0" y="683768"/>
                  </a:cubicBezTo>
                  <a:close/>
                </a:path>
              </a:pathLst>
            </a:custGeom>
            <a:solidFill>
              <a:srgbClr val="F8ECE4"/>
            </a:solidFill>
            <a:ln w="9532" cap="sq">
              <a:solidFill>
                <a:srgbClr val="15161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78706" y="4428344"/>
            <a:ext cx="343310" cy="429111"/>
            <a:chOff x="0" y="0"/>
            <a:chExt cx="457746" cy="5721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7744" cy="572145"/>
            </a:xfrm>
            <a:custGeom>
              <a:avLst/>
              <a:gdLst/>
              <a:ahLst/>
              <a:cxnLst/>
              <a:rect r="r" b="b" t="t" l="l"/>
              <a:pathLst>
                <a:path h="572145" w="457744">
                  <a:moveTo>
                    <a:pt x="0" y="0"/>
                  </a:moveTo>
                  <a:lnTo>
                    <a:pt x="457744" y="0"/>
                  </a:lnTo>
                  <a:lnTo>
                    <a:pt x="457744" y="572145"/>
                  </a:lnTo>
                  <a:lnTo>
                    <a:pt x="0" y="5721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0" t="0" r="-11037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457746" cy="5721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1516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718777" y="4445117"/>
            <a:ext cx="2108299" cy="35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ML Technique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18777" y="4975536"/>
            <a:ext cx="7153027" cy="66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Which learning paradigm is applied — supervised, self-supervised, transformer-based?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88219" y="6153788"/>
            <a:ext cx="524418" cy="524437"/>
            <a:chOff x="0" y="0"/>
            <a:chExt cx="699224" cy="69924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9135" cy="699262"/>
            </a:xfrm>
            <a:custGeom>
              <a:avLst/>
              <a:gdLst/>
              <a:ahLst/>
              <a:cxnLst/>
              <a:rect r="r" b="b" t="t" l="l"/>
              <a:pathLst>
                <a:path h="699262" w="699135">
                  <a:moveTo>
                    <a:pt x="0" y="15494"/>
                  </a:moveTo>
                  <a:cubicBezTo>
                    <a:pt x="0" y="6985"/>
                    <a:pt x="6985" y="0"/>
                    <a:pt x="15494" y="0"/>
                  </a:cubicBezTo>
                  <a:lnTo>
                    <a:pt x="683641" y="0"/>
                  </a:lnTo>
                  <a:cubicBezTo>
                    <a:pt x="692277" y="0"/>
                    <a:pt x="699135" y="6985"/>
                    <a:pt x="699135" y="15494"/>
                  </a:cubicBezTo>
                  <a:lnTo>
                    <a:pt x="699135" y="683768"/>
                  </a:lnTo>
                  <a:cubicBezTo>
                    <a:pt x="699135" y="692404"/>
                    <a:pt x="692150" y="699262"/>
                    <a:pt x="683641" y="699262"/>
                  </a:cubicBezTo>
                  <a:lnTo>
                    <a:pt x="15494" y="699262"/>
                  </a:lnTo>
                  <a:cubicBezTo>
                    <a:pt x="6985" y="699262"/>
                    <a:pt x="0" y="692277"/>
                    <a:pt x="0" y="683768"/>
                  </a:cubicBezTo>
                  <a:close/>
                </a:path>
              </a:pathLst>
            </a:custGeom>
            <a:solidFill>
              <a:srgbClr val="F8ECE4"/>
            </a:solidFill>
            <a:ln w="9532" cap="sq">
              <a:solidFill>
                <a:srgbClr val="151617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78706" y="6201375"/>
            <a:ext cx="343310" cy="429111"/>
            <a:chOff x="0" y="0"/>
            <a:chExt cx="457746" cy="5721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57744" cy="572145"/>
            </a:xfrm>
            <a:custGeom>
              <a:avLst/>
              <a:gdLst/>
              <a:ahLst/>
              <a:cxnLst/>
              <a:rect r="r" b="b" t="t" l="l"/>
              <a:pathLst>
                <a:path h="572145" w="457744">
                  <a:moveTo>
                    <a:pt x="0" y="0"/>
                  </a:moveTo>
                  <a:lnTo>
                    <a:pt x="457744" y="0"/>
                  </a:lnTo>
                  <a:lnTo>
                    <a:pt x="457744" y="572145"/>
                  </a:lnTo>
                  <a:lnTo>
                    <a:pt x="0" y="5721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0" t="0" r="-11037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457746" cy="5721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1516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718777" y="6218149"/>
            <a:ext cx="4839891" cy="35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Detection &amp; Recovery Capability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18777" y="6748567"/>
            <a:ext cx="7153027" cy="66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Does the system detect only, recover only, or attempt to integrate both stages?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88219" y="7926829"/>
            <a:ext cx="524418" cy="524437"/>
            <a:chOff x="0" y="0"/>
            <a:chExt cx="699224" cy="69924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99135" cy="699262"/>
            </a:xfrm>
            <a:custGeom>
              <a:avLst/>
              <a:gdLst/>
              <a:ahLst/>
              <a:cxnLst/>
              <a:rect r="r" b="b" t="t" l="l"/>
              <a:pathLst>
                <a:path h="699262" w="699135">
                  <a:moveTo>
                    <a:pt x="0" y="15494"/>
                  </a:moveTo>
                  <a:cubicBezTo>
                    <a:pt x="0" y="6985"/>
                    <a:pt x="6985" y="0"/>
                    <a:pt x="15494" y="0"/>
                  </a:cubicBezTo>
                  <a:lnTo>
                    <a:pt x="683641" y="0"/>
                  </a:lnTo>
                  <a:cubicBezTo>
                    <a:pt x="692277" y="0"/>
                    <a:pt x="699135" y="6985"/>
                    <a:pt x="699135" y="15494"/>
                  </a:cubicBezTo>
                  <a:lnTo>
                    <a:pt x="699135" y="683768"/>
                  </a:lnTo>
                  <a:cubicBezTo>
                    <a:pt x="699135" y="692404"/>
                    <a:pt x="692150" y="699262"/>
                    <a:pt x="683641" y="699262"/>
                  </a:cubicBezTo>
                  <a:lnTo>
                    <a:pt x="15494" y="699262"/>
                  </a:lnTo>
                  <a:cubicBezTo>
                    <a:pt x="6985" y="699262"/>
                    <a:pt x="0" y="692277"/>
                    <a:pt x="0" y="683768"/>
                  </a:cubicBezTo>
                  <a:close/>
                </a:path>
              </a:pathLst>
            </a:custGeom>
            <a:solidFill>
              <a:srgbClr val="F8ECE4"/>
            </a:solidFill>
            <a:ln w="9532" cap="sq">
              <a:solidFill>
                <a:srgbClr val="151617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078706" y="7974416"/>
            <a:ext cx="343310" cy="429111"/>
            <a:chOff x="0" y="0"/>
            <a:chExt cx="457746" cy="5721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7744" cy="572145"/>
            </a:xfrm>
            <a:custGeom>
              <a:avLst/>
              <a:gdLst/>
              <a:ahLst/>
              <a:cxnLst/>
              <a:rect r="r" b="b" t="t" l="l"/>
              <a:pathLst>
                <a:path h="572145" w="457744">
                  <a:moveTo>
                    <a:pt x="0" y="0"/>
                  </a:moveTo>
                  <a:lnTo>
                    <a:pt x="457744" y="0"/>
                  </a:lnTo>
                  <a:lnTo>
                    <a:pt x="457744" y="572145"/>
                  </a:lnTo>
                  <a:lnTo>
                    <a:pt x="0" y="5721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0" t="0" r="-11037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457746" cy="5721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1516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718777" y="7991180"/>
            <a:ext cx="2505174" cy="35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Limitation &amp; Gap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18777" y="8521608"/>
            <a:ext cx="7153027" cy="66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01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What integration, scope, or deployment constraint limits real-world OS applicability?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274835" y="1806692"/>
            <a:ext cx="8208274" cy="7713240"/>
            <a:chOff x="0" y="0"/>
            <a:chExt cx="10944365" cy="102843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44352" cy="10284333"/>
            </a:xfrm>
            <a:custGeom>
              <a:avLst/>
              <a:gdLst/>
              <a:ahLst/>
              <a:cxnLst/>
              <a:rect r="r" b="b" t="t" l="l"/>
              <a:pathLst>
                <a:path h="10284333" w="10944352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10929112" y="0"/>
                  </a:lnTo>
                  <a:cubicBezTo>
                    <a:pt x="10937494" y="0"/>
                    <a:pt x="10944352" y="6858"/>
                    <a:pt x="10944352" y="15240"/>
                  </a:cubicBezTo>
                  <a:lnTo>
                    <a:pt x="10944352" y="10269093"/>
                  </a:lnTo>
                  <a:cubicBezTo>
                    <a:pt x="10944352" y="10277475"/>
                    <a:pt x="10937494" y="10284333"/>
                    <a:pt x="10929112" y="10284333"/>
                  </a:cubicBezTo>
                  <a:lnTo>
                    <a:pt x="15240" y="10284333"/>
                  </a:lnTo>
                  <a:cubicBezTo>
                    <a:pt x="6858" y="10284333"/>
                    <a:pt x="0" y="10277475"/>
                    <a:pt x="0" y="10269093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9503616" y="2017605"/>
            <a:ext cx="2967335" cy="421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Research Scope</a:t>
            </a:r>
          </a:p>
        </p:txBody>
      </p:sp>
      <p:sp>
        <p:nvSpPr>
          <p:cNvPr name="Freeform 39" id="39" descr="preencoded.png"/>
          <p:cNvSpPr/>
          <p:nvPr/>
        </p:nvSpPr>
        <p:spPr>
          <a:xfrm flipH="false" flipV="false" rot="0">
            <a:off x="9503616" y="2612488"/>
            <a:ext cx="7750731" cy="1435227"/>
          </a:xfrm>
          <a:custGeom>
            <a:avLst/>
            <a:gdLst/>
            <a:ahLst/>
            <a:cxnLst/>
            <a:rect r="r" b="b" t="t" l="l"/>
            <a:pathLst>
              <a:path h="1435227" w="7750731">
                <a:moveTo>
                  <a:pt x="0" y="0"/>
                </a:moveTo>
                <a:lnTo>
                  <a:pt x="7750731" y="0"/>
                </a:lnTo>
                <a:lnTo>
                  <a:pt x="7750731" y="1435227"/>
                </a:lnTo>
                <a:lnTo>
                  <a:pt x="0" y="1435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88" r="0" b="-89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9875368" y="2860338"/>
            <a:ext cx="1092696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Period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875368" y="3362182"/>
            <a:ext cx="7121604" cy="396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7"/>
              </a:lnSpc>
            </a:pPr>
            <a:r>
              <a:rPr lang="en-US" sz="2101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Recent peer-reviewed research from 2024–2026</a:t>
            </a:r>
          </a:p>
        </p:txBody>
      </p:sp>
      <p:sp>
        <p:nvSpPr>
          <p:cNvPr name="Freeform 42" id="42" descr="preencoded.png"/>
          <p:cNvSpPr/>
          <p:nvPr/>
        </p:nvSpPr>
        <p:spPr>
          <a:xfrm flipH="false" flipV="false" rot="0">
            <a:off x="9503616" y="4258618"/>
            <a:ext cx="7750731" cy="1435227"/>
          </a:xfrm>
          <a:custGeom>
            <a:avLst/>
            <a:gdLst/>
            <a:ahLst/>
            <a:cxnLst/>
            <a:rect r="r" b="b" t="t" l="l"/>
            <a:pathLst>
              <a:path h="1435227" w="7750731">
                <a:moveTo>
                  <a:pt x="0" y="0"/>
                </a:moveTo>
                <a:lnTo>
                  <a:pt x="7750731" y="0"/>
                </a:lnTo>
                <a:lnTo>
                  <a:pt x="7750731" y="1435227"/>
                </a:lnTo>
                <a:lnTo>
                  <a:pt x="0" y="1435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88" r="0" b="-89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9875368" y="4506468"/>
            <a:ext cx="1628775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Approach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875368" y="5008321"/>
            <a:ext cx="7121604" cy="805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7"/>
              </a:lnSpc>
            </a:pPr>
            <a:r>
              <a:rPr lang="en-US" sz="2101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Comparative and critical analysis — not descriptive summary</a:t>
            </a:r>
          </a:p>
        </p:txBody>
      </p:sp>
      <p:sp>
        <p:nvSpPr>
          <p:cNvPr name="Freeform 45" id="45" descr="preencoded.png"/>
          <p:cNvSpPr/>
          <p:nvPr/>
        </p:nvSpPr>
        <p:spPr>
          <a:xfrm flipH="false" flipV="false" rot="0">
            <a:off x="9503616" y="5904757"/>
            <a:ext cx="7750731" cy="1787185"/>
          </a:xfrm>
          <a:custGeom>
            <a:avLst/>
            <a:gdLst/>
            <a:ahLst/>
            <a:cxnLst/>
            <a:rect r="r" b="b" t="t" l="l"/>
            <a:pathLst>
              <a:path h="1787185" w="7750731">
                <a:moveTo>
                  <a:pt x="0" y="0"/>
                </a:moveTo>
                <a:lnTo>
                  <a:pt x="7750731" y="0"/>
                </a:lnTo>
                <a:lnTo>
                  <a:pt x="7750731" y="1787185"/>
                </a:lnTo>
                <a:lnTo>
                  <a:pt x="0" y="1787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1" r="0" b="-81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9875368" y="6152607"/>
            <a:ext cx="779959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Lens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875368" y="6654451"/>
            <a:ext cx="7121604" cy="805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7"/>
              </a:lnSpc>
            </a:pPr>
            <a:r>
              <a:rPr lang="en-US" sz="2101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Strengths, limitations, and integration gaps across detection and recovery stages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48303"/>
            <a:ext cx="14627423" cy="751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8"/>
              </a:lnSpc>
            </a:pPr>
            <a:r>
              <a:rPr lang="en-US" sz="4878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Existing Research Approaches: Five Domains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8219" y="2025196"/>
            <a:ext cx="5282632" cy="4031628"/>
            <a:chOff x="0" y="0"/>
            <a:chExt cx="7043509" cy="53755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43420" cy="5375529"/>
            </a:xfrm>
            <a:custGeom>
              <a:avLst/>
              <a:gdLst/>
              <a:ahLst/>
              <a:cxnLst/>
              <a:rect r="r" b="b" t="t" l="l"/>
              <a:pathLst>
                <a:path h="5375529" w="7043420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7028180" y="0"/>
                  </a:lnTo>
                  <a:cubicBezTo>
                    <a:pt x="7036562" y="0"/>
                    <a:pt x="7043420" y="6858"/>
                    <a:pt x="7043420" y="15240"/>
                  </a:cubicBezTo>
                  <a:lnTo>
                    <a:pt x="7043420" y="5360289"/>
                  </a:lnTo>
                  <a:cubicBezTo>
                    <a:pt x="7043420" y="5368671"/>
                    <a:pt x="7036562" y="5375529"/>
                    <a:pt x="7028180" y="5375529"/>
                  </a:cubicBezTo>
                  <a:lnTo>
                    <a:pt x="15240" y="5375529"/>
                  </a:lnTo>
                  <a:cubicBezTo>
                    <a:pt x="6858" y="5375529"/>
                    <a:pt x="0" y="5368671"/>
                    <a:pt x="0" y="5360289"/>
                  </a:cubicBezTo>
                  <a:close/>
                </a:path>
              </a:pathLst>
            </a:custGeom>
            <a:solidFill>
              <a:srgbClr val="F8ECE4"/>
            </a:solidFill>
            <a:ln w="9532" cap="sq">
              <a:solidFill>
                <a:srgbClr val="15161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50652" y="2287638"/>
            <a:ext cx="744703" cy="744722"/>
            <a:chOff x="0" y="0"/>
            <a:chExt cx="992937" cy="9929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92886" cy="993013"/>
            </a:xfrm>
            <a:custGeom>
              <a:avLst/>
              <a:gdLst/>
              <a:ahLst/>
              <a:cxnLst/>
              <a:rect r="r" b="b" t="t" l="l"/>
              <a:pathLst>
                <a:path h="993013" w="992886">
                  <a:moveTo>
                    <a:pt x="0" y="496443"/>
                  </a:moveTo>
                  <a:cubicBezTo>
                    <a:pt x="0" y="222250"/>
                    <a:pt x="222250" y="0"/>
                    <a:pt x="496443" y="0"/>
                  </a:cubicBezTo>
                  <a:cubicBezTo>
                    <a:pt x="770636" y="0"/>
                    <a:pt x="992886" y="222250"/>
                    <a:pt x="992886" y="496443"/>
                  </a:cubicBezTo>
                  <a:cubicBezTo>
                    <a:pt x="992886" y="770636"/>
                    <a:pt x="770636" y="993013"/>
                    <a:pt x="496443" y="993013"/>
                  </a:cubicBezTo>
                  <a:cubicBezTo>
                    <a:pt x="222250" y="993013"/>
                    <a:pt x="0" y="770636"/>
                    <a:pt x="0" y="496443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1455449" y="2492283"/>
            <a:ext cx="335118" cy="335128"/>
          </a:xfrm>
          <a:custGeom>
            <a:avLst/>
            <a:gdLst/>
            <a:ahLst/>
            <a:cxnLst/>
            <a:rect r="r" b="b" t="t" l="l"/>
            <a:pathLst>
              <a:path h="335128" w="335118">
                <a:moveTo>
                  <a:pt x="0" y="0"/>
                </a:moveTo>
                <a:lnTo>
                  <a:pt x="335118" y="0"/>
                </a:lnTo>
                <a:lnTo>
                  <a:pt x="335118" y="335128"/>
                </a:lnTo>
                <a:lnTo>
                  <a:pt x="0" y="3351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4166" r="0" b="-4163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50652" y="3280505"/>
            <a:ext cx="4757766" cy="72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Log-Based Anomaly Detection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0652" y="4129249"/>
            <a:ext cx="4757766" cy="1540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System event log analysis and sequential pattern recognition to identify deviations from normal OS behaviour.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09452" y="2025196"/>
            <a:ext cx="5282784" cy="4031628"/>
            <a:chOff x="0" y="0"/>
            <a:chExt cx="7043712" cy="53755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43674" cy="5375529"/>
            </a:xfrm>
            <a:custGeom>
              <a:avLst/>
              <a:gdLst/>
              <a:ahLst/>
              <a:cxnLst/>
              <a:rect r="r" b="b" t="t" l="l"/>
              <a:pathLst>
                <a:path h="5375529" w="7043674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7028434" y="0"/>
                  </a:lnTo>
                  <a:cubicBezTo>
                    <a:pt x="7036815" y="0"/>
                    <a:pt x="7043674" y="6858"/>
                    <a:pt x="7043674" y="15240"/>
                  </a:cubicBezTo>
                  <a:lnTo>
                    <a:pt x="7043674" y="5360289"/>
                  </a:lnTo>
                  <a:cubicBezTo>
                    <a:pt x="7043674" y="5368671"/>
                    <a:pt x="7036815" y="5375529"/>
                    <a:pt x="7028434" y="5375529"/>
                  </a:cubicBezTo>
                  <a:lnTo>
                    <a:pt x="15240" y="5375529"/>
                  </a:lnTo>
                  <a:cubicBezTo>
                    <a:pt x="6858" y="5375529"/>
                    <a:pt x="0" y="5368671"/>
                    <a:pt x="0" y="5360289"/>
                  </a:cubicBezTo>
                  <a:close/>
                </a:path>
              </a:pathLst>
            </a:custGeom>
            <a:solidFill>
              <a:srgbClr val="F8ECE4"/>
            </a:solidFill>
            <a:ln w="9532" cap="sq">
              <a:solidFill>
                <a:srgbClr val="151617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771894" y="2287638"/>
            <a:ext cx="744703" cy="744722"/>
            <a:chOff x="0" y="0"/>
            <a:chExt cx="992937" cy="9929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92886" cy="993013"/>
            </a:xfrm>
            <a:custGeom>
              <a:avLst/>
              <a:gdLst/>
              <a:ahLst/>
              <a:cxnLst/>
              <a:rect r="r" b="b" t="t" l="l"/>
              <a:pathLst>
                <a:path h="993013" w="992886">
                  <a:moveTo>
                    <a:pt x="0" y="496443"/>
                  </a:moveTo>
                  <a:cubicBezTo>
                    <a:pt x="0" y="222250"/>
                    <a:pt x="222250" y="0"/>
                    <a:pt x="496443" y="0"/>
                  </a:cubicBezTo>
                  <a:cubicBezTo>
                    <a:pt x="770636" y="0"/>
                    <a:pt x="992886" y="222250"/>
                    <a:pt x="992886" y="496443"/>
                  </a:cubicBezTo>
                  <a:cubicBezTo>
                    <a:pt x="992886" y="770636"/>
                    <a:pt x="770636" y="993013"/>
                    <a:pt x="496443" y="993013"/>
                  </a:cubicBezTo>
                  <a:cubicBezTo>
                    <a:pt x="222250" y="993013"/>
                    <a:pt x="0" y="770636"/>
                    <a:pt x="0" y="496443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6976682" y="2492283"/>
            <a:ext cx="335118" cy="335128"/>
          </a:xfrm>
          <a:custGeom>
            <a:avLst/>
            <a:gdLst/>
            <a:ahLst/>
            <a:cxnLst/>
            <a:rect r="r" b="b" t="t" l="l"/>
            <a:pathLst>
              <a:path h="335128" w="335118">
                <a:moveTo>
                  <a:pt x="0" y="0"/>
                </a:moveTo>
                <a:lnTo>
                  <a:pt x="335118" y="0"/>
                </a:lnTo>
                <a:lnTo>
                  <a:pt x="335118" y="335128"/>
                </a:lnTo>
                <a:lnTo>
                  <a:pt x="0" y="3351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779" t="0" r="-2776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771894" y="3280505"/>
            <a:ext cx="4757909" cy="72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Deep Learning / Transformers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71894" y="4129249"/>
            <a:ext cx="4757909" cy="193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Complex pattern learning from sequential log and metric data using neural architectures including LSTMs and transformer models.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30837" y="2025196"/>
            <a:ext cx="5282632" cy="4031628"/>
            <a:chOff x="0" y="0"/>
            <a:chExt cx="7043509" cy="53755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43420" cy="5375529"/>
            </a:xfrm>
            <a:custGeom>
              <a:avLst/>
              <a:gdLst/>
              <a:ahLst/>
              <a:cxnLst/>
              <a:rect r="r" b="b" t="t" l="l"/>
              <a:pathLst>
                <a:path h="5375529" w="7043420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7028180" y="0"/>
                  </a:lnTo>
                  <a:cubicBezTo>
                    <a:pt x="7036562" y="0"/>
                    <a:pt x="7043420" y="6858"/>
                    <a:pt x="7043420" y="15240"/>
                  </a:cubicBezTo>
                  <a:lnTo>
                    <a:pt x="7043420" y="5360289"/>
                  </a:lnTo>
                  <a:cubicBezTo>
                    <a:pt x="7043420" y="5368671"/>
                    <a:pt x="7036562" y="5375529"/>
                    <a:pt x="7028180" y="5375529"/>
                  </a:cubicBezTo>
                  <a:lnTo>
                    <a:pt x="15240" y="5375529"/>
                  </a:lnTo>
                  <a:cubicBezTo>
                    <a:pt x="6858" y="5375529"/>
                    <a:pt x="0" y="5368671"/>
                    <a:pt x="0" y="5360289"/>
                  </a:cubicBezTo>
                  <a:close/>
                </a:path>
              </a:pathLst>
            </a:custGeom>
            <a:solidFill>
              <a:srgbClr val="F8ECE4"/>
            </a:solidFill>
            <a:ln w="9532" cap="sq">
              <a:solidFill>
                <a:srgbClr val="151617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2293270" y="2287638"/>
            <a:ext cx="744703" cy="744722"/>
            <a:chOff x="0" y="0"/>
            <a:chExt cx="992937" cy="99296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92886" cy="993013"/>
            </a:xfrm>
            <a:custGeom>
              <a:avLst/>
              <a:gdLst/>
              <a:ahLst/>
              <a:cxnLst/>
              <a:rect r="r" b="b" t="t" l="l"/>
              <a:pathLst>
                <a:path h="993013" w="992886">
                  <a:moveTo>
                    <a:pt x="0" y="496443"/>
                  </a:moveTo>
                  <a:cubicBezTo>
                    <a:pt x="0" y="222250"/>
                    <a:pt x="222250" y="0"/>
                    <a:pt x="496443" y="0"/>
                  </a:cubicBezTo>
                  <a:cubicBezTo>
                    <a:pt x="770636" y="0"/>
                    <a:pt x="992886" y="222250"/>
                    <a:pt x="992886" y="496443"/>
                  </a:cubicBezTo>
                  <a:cubicBezTo>
                    <a:pt x="992886" y="770636"/>
                    <a:pt x="770636" y="993013"/>
                    <a:pt x="496443" y="993013"/>
                  </a:cubicBezTo>
                  <a:cubicBezTo>
                    <a:pt x="222250" y="993013"/>
                    <a:pt x="0" y="770636"/>
                    <a:pt x="0" y="496443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12498067" y="2492283"/>
            <a:ext cx="335118" cy="335128"/>
          </a:xfrm>
          <a:custGeom>
            <a:avLst/>
            <a:gdLst/>
            <a:ahLst/>
            <a:cxnLst/>
            <a:rect r="r" b="b" t="t" l="l"/>
            <a:pathLst>
              <a:path h="335128" w="335118">
                <a:moveTo>
                  <a:pt x="0" y="0"/>
                </a:moveTo>
                <a:lnTo>
                  <a:pt x="335118" y="0"/>
                </a:lnTo>
                <a:lnTo>
                  <a:pt x="335118" y="335128"/>
                </a:lnTo>
                <a:lnTo>
                  <a:pt x="0" y="3351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2293270" y="3280505"/>
            <a:ext cx="4757766" cy="72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Process &amp; Resource Monitoring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293270" y="4129249"/>
            <a:ext cx="4757766" cy="1540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CPU, memory, disk, and process-level metrics used as real-time fault signals at the OS resource layer.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88219" y="6295434"/>
            <a:ext cx="8043243" cy="3246396"/>
            <a:chOff x="0" y="0"/>
            <a:chExt cx="10724324" cy="432852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24261" cy="4328541"/>
            </a:xfrm>
            <a:custGeom>
              <a:avLst/>
              <a:gdLst/>
              <a:ahLst/>
              <a:cxnLst/>
              <a:rect r="r" b="b" t="t" l="l"/>
              <a:pathLst>
                <a:path h="4328541" w="10724261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10709021" y="0"/>
                  </a:lnTo>
                  <a:cubicBezTo>
                    <a:pt x="10717402" y="0"/>
                    <a:pt x="10724261" y="6858"/>
                    <a:pt x="10724261" y="15240"/>
                  </a:cubicBezTo>
                  <a:lnTo>
                    <a:pt x="10724261" y="4313301"/>
                  </a:lnTo>
                  <a:cubicBezTo>
                    <a:pt x="10724261" y="4321683"/>
                    <a:pt x="10717402" y="4328541"/>
                    <a:pt x="10709021" y="4328541"/>
                  </a:cubicBezTo>
                  <a:lnTo>
                    <a:pt x="15240" y="4328541"/>
                  </a:lnTo>
                  <a:cubicBezTo>
                    <a:pt x="6858" y="4328541"/>
                    <a:pt x="0" y="4321683"/>
                    <a:pt x="0" y="4313301"/>
                  </a:cubicBezTo>
                  <a:close/>
                </a:path>
              </a:pathLst>
            </a:custGeom>
            <a:solidFill>
              <a:srgbClr val="F8ECE4"/>
            </a:solidFill>
            <a:ln w="9532" cap="sq">
              <a:solidFill>
                <a:srgbClr val="151617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50652" y="6557877"/>
            <a:ext cx="744703" cy="744722"/>
            <a:chOff x="0" y="0"/>
            <a:chExt cx="992937" cy="99296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92886" cy="993013"/>
            </a:xfrm>
            <a:custGeom>
              <a:avLst/>
              <a:gdLst/>
              <a:ahLst/>
              <a:cxnLst/>
              <a:rect r="r" b="b" t="t" l="l"/>
              <a:pathLst>
                <a:path h="993013" w="992886">
                  <a:moveTo>
                    <a:pt x="0" y="496443"/>
                  </a:moveTo>
                  <a:cubicBezTo>
                    <a:pt x="0" y="222250"/>
                    <a:pt x="222250" y="0"/>
                    <a:pt x="496443" y="0"/>
                  </a:cubicBezTo>
                  <a:cubicBezTo>
                    <a:pt x="770636" y="0"/>
                    <a:pt x="992886" y="222250"/>
                    <a:pt x="992886" y="496443"/>
                  </a:cubicBezTo>
                  <a:cubicBezTo>
                    <a:pt x="992886" y="770636"/>
                    <a:pt x="770636" y="993013"/>
                    <a:pt x="496443" y="993013"/>
                  </a:cubicBezTo>
                  <a:cubicBezTo>
                    <a:pt x="222250" y="993013"/>
                    <a:pt x="0" y="770636"/>
                    <a:pt x="0" y="496443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</p:grpSp>
      <p:sp>
        <p:nvSpPr>
          <p:cNvPr name="Freeform 32" id="32" descr="preencoded.png"/>
          <p:cNvSpPr/>
          <p:nvPr/>
        </p:nvSpPr>
        <p:spPr>
          <a:xfrm flipH="false" flipV="false" rot="0">
            <a:off x="1455449" y="6762531"/>
            <a:ext cx="335118" cy="335128"/>
          </a:xfrm>
          <a:custGeom>
            <a:avLst/>
            <a:gdLst/>
            <a:ahLst/>
            <a:cxnLst/>
            <a:rect r="r" b="b" t="t" l="l"/>
            <a:pathLst>
              <a:path h="335128" w="335118">
                <a:moveTo>
                  <a:pt x="0" y="0"/>
                </a:moveTo>
                <a:lnTo>
                  <a:pt x="335118" y="0"/>
                </a:lnTo>
                <a:lnTo>
                  <a:pt x="335118" y="335128"/>
                </a:lnTo>
                <a:lnTo>
                  <a:pt x="0" y="33512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556" t="0" r="-5556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250652" y="7550744"/>
            <a:ext cx="4502646" cy="35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OS / System Fault Detection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50652" y="8011487"/>
            <a:ext cx="7518378" cy="1149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Operating system-level anomaly identification targeting kernel events, system calls, and scheduler state anomalies.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270073" y="6295434"/>
            <a:ext cx="8043396" cy="3246396"/>
            <a:chOff x="0" y="0"/>
            <a:chExt cx="10724528" cy="43285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24515" cy="4328541"/>
            </a:xfrm>
            <a:custGeom>
              <a:avLst/>
              <a:gdLst/>
              <a:ahLst/>
              <a:cxnLst/>
              <a:rect r="r" b="b" t="t" l="l"/>
              <a:pathLst>
                <a:path h="4328541" w="10724515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10709275" y="0"/>
                  </a:lnTo>
                  <a:cubicBezTo>
                    <a:pt x="10717657" y="0"/>
                    <a:pt x="10724515" y="6858"/>
                    <a:pt x="10724515" y="15240"/>
                  </a:cubicBezTo>
                  <a:lnTo>
                    <a:pt x="10724515" y="4313301"/>
                  </a:lnTo>
                  <a:cubicBezTo>
                    <a:pt x="10724515" y="4321683"/>
                    <a:pt x="10717657" y="4328541"/>
                    <a:pt x="10709275" y="4328541"/>
                  </a:cubicBezTo>
                  <a:lnTo>
                    <a:pt x="15240" y="4328541"/>
                  </a:lnTo>
                  <a:cubicBezTo>
                    <a:pt x="6858" y="4328541"/>
                    <a:pt x="0" y="4321683"/>
                    <a:pt x="0" y="4313301"/>
                  </a:cubicBezTo>
                  <a:close/>
                </a:path>
              </a:pathLst>
            </a:custGeom>
            <a:solidFill>
              <a:srgbClr val="F8ECE4"/>
            </a:solidFill>
            <a:ln w="9532" cap="sq">
              <a:solidFill>
                <a:srgbClr val="151617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532506" y="6557877"/>
            <a:ext cx="744703" cy="744722"/>
            <a:chOff x="0" y="0"/>
            <a:chExt cx="992937" cy="99296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92886" cy="993013"/>
            </a:xfrm>
            <a:custGeom>
              <a:avLst/>
              <a:gdLst/>
              <a:ahLst/>
              <a:cxnLst/>
              <a:rect r="r" b="b" t="t" l="l"/>
              <a:pathLst>
                <a:path h="993013" w="992886">
                  <a:moveTo>
                    <a:pt x="0" y="496443"/>
                  </a:moveTo>
                  <a:cubicBezTo>
                    <a:pt x="0" y="222250"/>
                    <a:pt x="222250" y="0"/>
                    <a:pt x="496443" y="0"/>
                  </a:cubicBezTo>
                  <a:cubicBezTo>
                    <a:pt x="770636" y="0"/>
                    <a:pt x="992886" y="222250"/>
                    <a:pt x="992886" y="496443"/>
                  </a:cubicBezTo>
                  <a:cubicBezTo>
                    <a:pt x="992886" y="770636"/>
                    <a:pt x="770636" y="993013"/>
                    <a:pt x="496443" y="993013"/>
                  </a:cubicBezTo>
                  <a:cubicBezTo>
                    <a:pt x="222250" y="993013"/>
                    <a:pt x="0" y="770636"/>
                    <a:pt x="0" y="496443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</p:grpSp>
      <p:sp>
        <p:nvSpPr>
          <p:cNvPr name="Freeform 39" id="39" descr="preencoded.png"/>
          <p:cNvSpPr/>
          <p:nvPr/>
        </p:nvSpPr>
        <p:spPr>
          <a:xfrm flipH="false" flipV="false" rot="0">
            <a:off x="9737303" y="6762531"/>
            <a:ext cx="335118" cy="335128"/>
          </a:xfrm>
          <a:custGeom>
            <a:avLst/>
            <a:gdLst/>
            <a:ahLst/>
            <a:cxnLst/>
            <a:rect r="r" b="b" t="t" l="l"/>
            <a:pathLst>
              <a:path h="335128" w="335118">
                <a:moveTo>
                  <a:pt x="0" y="0"/>
                </a:moveTo>
                <a:lnTo>
                  <a:pt x="335118" y="0"/>
                </a:lnTo>
                <a:lnTo>
                  <a:pt x="335118" y="335128"/>
                </a:lnTo>
                <a:lnTo>
                  <a:pt x="0" y="33512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389" t="0" r="-1389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9532506" y="7550744"/>
            <a:ext cx="6305451" cy="35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Automated Remediation &amp; Self-Healing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532506" y="8011487"/>
            <a:ext cx="7518530" cy="1149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Autonomous recovery action execution including process restart, resource reallocation, and service restoration workflows.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65643" y="257752"/>
            <a:ext cx="10131723" cy="604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3903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Literature Matrix: 10 Papers, 2024–2026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365643" y="862609"/>
          <a:ext cx="17464966" cy="9424391"/>
        </p:xfrm>
        <a:graphic>
          <a:graphicData uri="http://schemas.openxmlformats.org/drawingml/2006/table">
            <a:tbl>
              <a:tblPr/>
              <a:tblGrid>
                <a:gridCol w="2591899"/>
                <a:gridCol w="1161356"/>
                <a:gridCol w="3569577"/>
                <a:gridCol w="4051220"/>
                <a:gridCol w="6090914"/>
              </a:tblGrid>
              <a:tr h="6563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151617"/>
                          </a:solidFill>
                          <a:latin typeface="Fira Code Bold"/>
                          <a:ea typeface="Fira Code Bold"/>
                          <a:cs typeface="Fira Code Bold"/>
                          <a:sym typeface="Fira Code Bold"/>
                        </a:rPr>
                        <a:t>Study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151617"/>
                          </a:solidFill>
                          <a:latin typeface="Fira Code Bold"/>
                          <a:ea typeface="Fira Code Bold"/>
                          <a:cs typeface="Fira Code Bold"/>
                          <a:sym typeface="Fira Code Bold"/>
                        </a:rPr>
                        <a:t>Year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151617"/>
                          </a:solidFill>
                          <a:latin typeface="Fira Code Bold"/>
                          <a:ea typeface="Fira Code Bold"/>
                          <a:cs typeface="Fira Code Bold"/>
                          <a:sym typeface="Fira Code Bold"/>
                        </a:rPr>
                        <a:t>Approach / Technique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151617"/>
                          </a:solidFill>
                          <a:latin typeface="Fira Code Bold"/>
                          <a:ea typeface="Fira Code Bold"/>
                          <a:cs typeface="Fira Code Bold"/>
                          <a:sym typeface="Fira Code Bold"/>
                        </a:rPr>
                        <a:t>Main Contribution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151617"/>
                          </a:solidFill>
                          <a:latin typeface="Fira Code Bold"/>
                          <a:ea typeface="Fira Code Bold"/>
                          <a:cs typeface="Fira Code Bold"/>
                          <a:sym typeface="Fira Code Bold"/>
                        </a:rPr>
                        <a:t>Key Limitation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6563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151617"/>
                          </a:solidFill>
                          <a:latin typeface="Fira Code Bold"/>
                          <a:ea typeface="Fira Code Bold"/>
                          <a:cs typeface="Fira Code Bold"/>
                          <a:sym typeface="Fira Code Bold"/>
                        </a:rPr>
                        <a:t>WDLog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2024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Wide &amp; Deep Learning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Robust log anomaly detection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Log-dependent; no recovery capability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6563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151617"/>
                          </a:solidFill>
                          <a:latin typeface="Fira Code Bold"/>
                          <a:ea typeface="Fira Code Bold"/>
                          <a:cs typeface="Fira Code Bold"/>
                          <a:sym typeface="Fira Code Bold"/>
                        </a:rPr>
                        <a:t>OneLog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2024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End-to-End Learning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Unified log anomaly pipeline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Detection only; no system recovery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6563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151617"/>
                          </a:solidFill>
                          <a:latin typeface="Fira Code Bold"/>
                          <a:ea typeface="Fira Code Bold"/>
                          <a:cs typeface="Fira Code Bold"/>
                          <a:sym typeface="Fira Code Bold"/>
                        </a:rPr>
                        <a:t>LogSD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2024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Self-Supervised Learning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Frequency-based anomaly masking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Limited to log analysis scope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9012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151617"/>
                          </a:solidFill>
                          <a:latin typeface="Fira Code Bold"/>
                          <a:ea typeface="Fira Code Bold"/>
                          <a:cs typeface="Fira Code Bold"/>
                          <a:sym typeface="Fira Code Bold"/>
                        </a:rPr>
                        <a:t>Log Parsing Impact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2024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Deep Learning + Parsing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Parsing quality affects detection accuracy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Significant preprocessing overhead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6563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151617"/>
                          </a:solidFill>
                          <a:latin typeface="Fira Code Bold"/>
                          <a:ea typeface="Fira Code Bold"/>
                          <a:cs typeface="Fira Code Bold"/>
                          <a:sym typeface="Fira Code Bold"/>
                        </a:rPr>
                        <a:t>LogETA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2024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Time-Aware Cross-System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Multi-system anomaly detection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Temporal complexity; no recovery stage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114621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151617"/>
                          </a:solidFill>
                          <a:latin typeface="Fira Code Bold"/>
                          <a:ea typeface="Fira Code Bold"/>
                          <a:cs typeface="Fira Code Bold"/>
                          <a:sym typeface="Fira Code Bold"/>
                        </a:rPr>
                        <a:t>Anomaly Detection in Logs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2024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Deep Learning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Effective event pattern recognition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Requires labeled training data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9012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151617"/>
                          </a:solidFill>
                          <a:latin typeface="Fira Code Bold"/>
                          <a:ea typeface="Fira Code Bold"/>
                          <a:cs typeface="Fira Code Bold"/>
                          <a:sym typeface="Fira Code Bold"/>
                        </a:rPr>
                        <a:t>Distributed System Logs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2025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LSTM + Process State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Distributed system anomaly detection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Limited to detection phase only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139112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151617"/>
                          </a:solidFill>
                          <a:latin typeface="Fira Code Bold"/>
                          <a:ea typeface="Fira Code Bold"/>
                          <a:cs typeface="Fira Code Bold"/>
                          <a:sym typeface="Fira Code Bold"/>
                        </a:rPr>
                        <a:t>Unified Framework (Transformers)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2025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Collaborative Transformers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Point &amp; collective anomaly detection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OS-level recovery not addressed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9012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151617"/>
                          </a:solidFill>
                          <a:latin typeface="Fira Code Bold"/>
                          <a:ea typeface="Fira Code Bold"/>
                          <a:cs typeface="Fira Code Bold"/>
                          <a:sym typeface="Fira Code Bold"/>
                        </a:rPr>
                        <a:t>Cloud-Based AI Systems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2025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Intelligent Fault Detection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Autonomous self-healing capability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Cloud-specific; not OS-focused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9012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151617"/>
                          </a:solidFill>
                          <a:latin typeface="Fira Code Bold"/>
                          <a:ea typeface="Fira Code Bold"/>
                          <a:cs typeface="Fira Code Bold"/>
                          <a:sym typeface="Fira Code Bold"/>
                        </a:rPr>
                        <a:t>CROSS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2026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Cloud-Native Remediation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Automated recovery actions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Cloud infrastructure; limited OS integration</a:t>
                      </a:r>
                      <a:endParaRPr lang="en-US" sz="1100"/>
                    </a:p>
                  </a:txBody>
                  <a:tcPr marL="134380" marR="134380" marT="134380" marB="134380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097880"/>
            <a:ext cx="15225911" cy="604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3903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Existing Technologies Solve — and Where They Stop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137820"/>
            <a:ext cx="5781874" cy="31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Capabilities Demonstrated Across Literature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1068648" y="2662752"/>
            <a:ext cx="302495" cy="302504"/>
          </a:xfrm>
          <a:custGeom>
            <a:avLst/>
            <a:gdLst/>
            <a:ahLst/>
            <a:cxnLst/>
            <a:rect r="r" b="b" t="t" l="l"/>
            <a:pathLst>
              <a:path h="302504" w="302495">
                <a:moveTo>
                  <a:pt x="0" y="0"/>
                </a:moveTo>
                <a:lnTo>
                  <a:pt x="302495" y="0"/>
                </a:lnTo>
                <a:lnTo>
                  <a:pt x="302495" y="302504"/>
                </a:lnTo>
                <a:lnTo>
                  <a:pt x="0" y="3025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377" t="0" r="-9377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48473" y="2637377"/>
            <a:ext cx="1839813" cy="31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Log-Based ML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8473" y="3106855"/>
            <a:ext cx="8937193" cy="549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576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Detects abnormal system events with high accuracy using pattern recognition on structured and unstructured log streams.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1068648" y="4054192"/>
            <a:ext cx="302495" cy="302504"/>
          </a:xfrm>
          <a:custGeom>
            <a:avLst/>
            <a:gdLst/>
            <a:ahLst/>
            <a:cxnLst/>
            <a:rect r="r" b="b" t="t" l="l"/>
            <a:pathLst>
              <a:path h="302504" w="302495">
                <a:moveTo>
                  <a:pt x="0" y="0"/>
                </a:moveTo>
                <a:lnTo>
                  <a:pt x="302495" y="0"/>
                </a:lnTo>
                <a:lnTo>
                  <a:pt x="302495" y="302505"/>
                </a:lnTo>
                <a:lnTo>
                  <a:pt x="0" y="3025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377" t="0" r="-9377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48473" y="4028818"/>
            <a:ext cx="3888184" cy="31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Deep Learning / Transformers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48473" y="4498296"/>
            <a:ext cx="8937193" cy="549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576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Learns complex anomaly patterns from sequential data windows, including point and collective anomalies.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068648" y="5445633"/>
            <a:ext cx="302495" cy="302504"/>
          </a:xfrm>
          <a:custGeom>
            <a:avLst/>
            <a:gdLst/>
            <a:ahLst/>
            <a:cxnLst/>
            <a:rect r="r" b="b" t="t" l="l"/>
            <a:pathLst>
              <a:path h="302504" w="302495">
                <a:moveTo>
                  <a:pt x="0" y="0"/>
                </a:moveTo>
                <a:lnTo>
                  <a:pt x="302495" y="0"/>
                </a:lnTo>
                <a:lnTo>
                  <a:pt x="302495" y="302504"/>
                </a:lnTo>
                <a:lnTo>
                  <a:pt x="0" y="3025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377" t="0" r="-9377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48473" y="5420258"/>
            <a:ext cx="3306763" cy="31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Process-State Monitoring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48473" y="5889736"/>
            <a:ext cx="8937193" cy="549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576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Enriches fault signals with process-level context and attributable resource causation beyond raw log entries.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068648" y="6837074"/>
            <a:ext cx="302495" cy="302504"/>
          </a:xfrm>
          <a:custGeom>
            <a:avLst/>
            <a:gdLst/>
            <a:ahLst/>
            <a:cxnLst/>
            <a:rect r="r" b="b" t="t" l="l"/>
            <a:pathLst>
              <a:path h="302504" w="302495">
                <a:moveTo>
                  <a:pt x="0" y="0"/>
                </a:moveTo>
                <a:lnTo>
                  <a:pt x="302495" y="0"/>
                </a:lnTo>
                <a:lnTo>
                  <a:pt x="302495" y="302504"/>
                </a:lnTo>
                <a:lnTo>
                  <a:pt x="0" y="3025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377" t="0" r="-9377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48473" y="6811689"/>
            <a:ext cx="2723852" cy="31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Resource Monitoring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48473" y="7281177"/>
            <a:ext cx="8937193" cy="549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576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Identifies CPU, RAM, and disk abnormalities in real-time, enabling early warning before critical failure.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1068648" y="8228514"/>
            <a:ext cx="302495" cy="302504"/>
          </a:xfrm>
          <a:custGeom>
            <a:avLst/>
            <a:gdLst/>
            <a:ahLst/>
            <a:cxnLst/>
            <a:rect r="r" b="b" t="t" l="l"/>
            <a:pathLst>
              <a:path h="302504" w="302495">
                <a:moveTo>
                  <a:pt x="0" y="0"/>
                </a:moveTo>
                <a:lnTo>
                  <a:pt x="302495" y="0"/>
                </a:lnTo>
                <a:lnTo>
                  <a:pt x="302495" y="302505"/>
                </a:lnTo>
                <a:lnTo>
                  <a:pt x="0" y="3025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377" t="0" r="-9377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648473" y="8203130"/>
            <a:ext cx="3218954" cy="31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Automated Remediation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48473" y="8672617"/>
            <a:ext cx="8937193" cy="549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576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Performs autonomous recovery actions — demonstrated primarily in cloud environments.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942082" y="1993030"/>
            <a:ext cx="6521520" cy="7184936"/>
            <a:chOff x="0" y="0"/>
            <a:chExt cx="8695360" cy="957991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695436" cy="9579991"/>
            </a:xfrm>
            <a:custGeom>
              <a:avLst/>
              <a:gdLst/>
              <a:ahLst/>
              <a:cxnLst/>
              <a:rect r="r" b="b" t="t" l="l"/>
              <a:pathLst>
                <a:path h="9579991" w="8695436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8680196" y="0"/>
                  </a:lnTo>
                  <a:cubicBezTo>
                    <a:pt x="8688577" y="0"/>
                    <a:pt x="8695436" y="6858"/>
                    <a:pt x="8695436" y="15240"/>
                  </a:cubicBezTo>
                  <a:lnTo>
                    <a:pt x="8695436" y="9564751"/>
                  </a:lnTo>
                  <a:cubicBezTo>
                    <a:pt x="8695436" y="9573133"/>
                    <a:pt x="8688577" y="9579991"/>
                    <a:pt x="8680196" y="9579991"/>
                  </a:cubicBezTo>
                  <a:lnTo>
                    <a:pt x="15240" y="9579991"/>
                  </a:lnTo>
                  <a:cubicBezTo>
                    <a:pt x="6858" y="9579991"/>
                    <a:pt x="0" y="9573133"/>
                    <a:pt x="0" y="9564751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1143745" y="2137820"/>
            <a:ext cx="2581771" cy="31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Critical Observation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143745" y="2607297"/>
            <a:ext cx="6118193" cy="1121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576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Existing approaches demonstrate strong capabilities within individual pipeline stages. Very few provide a complete OS-level pipeline that combines: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141107" y="3781845"/>
            <a:ext cx="6118193" cy="1121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480" indent="-142740" lvl="1">
              <a:lnSpc>
                <a:spcPts val="2288"/>
              </a:lnSpc>
              <a:buFont typeface="Arial"/>
              <a:buChar char="•"/>
            </a:pPr>
            <a:r>
              <a:rPr lang="en-US" sz="1576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Real-time resource monitoring</a:t>
            </a:r>
          </a:p>
          <a:p>
            <a:pPr algn="l" marL="285480" indent="-142740" lvl="1">
              <a:lnSpc>
                <a:spcPts val="2288"/>
              </a:lnSpc>
              <a:buFont typeface="Arial"/>
              <a:buChar char="•"/>
            </a:pPr>
            <a:r>
              <a:rPr lang="en-US" sz="1576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ML-based fault classification</a:t>
            </a:r>
          </a:p>
          <a:p>
            <a:pPr algn="l" marL="285480" indent="-142740" lvl="1">
              <a:lnSpc>
                <a:spcPts val="2288"/>
              </a:lnSpc>
              <a:buFont typeface="Arial"/>
              <a:buChar char="•"/>
            </a:pPr>
            <a:r>
              <a:rPr lang="en-US" sz="1576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Automated recovery</a:t>
            </a:r>
          </a:p>
          <a:p>
            <a:pPr algn="l" marL="285480" indent="-142740" lvl="1">
              <a:lnSpc>
                <a:spcPts val="2288"/>
              </a:lnSpc>
              <a:buFont typeface="Arial"/>
              <a:buChar char="•"/>
            </a:pPr>
            <a:r>
              <a:rPr lang="en-US" sz="1576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Post-recovery verification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143745" y="5186401"/>
            <a:ext cx="6118193" cy="980351"/>
            <a:chOff x="0" y="0"/>
            <a:chExt cx="8157591" cy="130713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57591" cy="1307084"/>
            </a:xfrm>
            <a:custGeom>
              <a:avLst/>
              <a:gdLst/>
              <a:ahLst/>
              <a:cxnLst/>
              <a:rect r="r" b="b" t="t" l="l"/>
              <a:pathLst>
                <a:path h="1307084" w="8157591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8142351" y="0"/>
                  </a:lnTo>
                  <a:cubicBezTo>
                    <a:pt x="8150733" y="0"/>
                    <a:pt x="8157591" y="6858"/>
                    <a:pt x="8157591" y="15240"/>
                  </a:cubicBezTo>
                  <a:lnTo>
                    <a:pt x="8157591" y="1291844"/>
                  </a:lnTo>
                  <a:cubicBezTo>
                    <a:pt x="8157591" y="1300226"/>
                    <a:pt x="8150733" y="1307084"/>
                    <a:pt x="8142351" y="1307084"/>
                  </a:cubicBezTo>
                  <a:lnTo>
                    <a:pt x="15240" y="1307084"/>
                  </a:lnTo>
                  <a:cubicBezTo>
                    <a:pt x="6858" y="1307084"/>
                    <a:pt x="0" y="1300226"/>
                    <a:pt x="0" y="1291844"/>
                  </a:cubicBezTo>
                  <a:close/>
                </a:path>
              </a:pathLst>
            </a:custGeom>
            <a:solidFill>
              <a:srgbClr val="3D404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345418" y="5433793"/>
            <a:ext cx="252155" cy="201673"/>
            <a:chOff x="0" y="0"/>
            <a:chExt cx="336207" cy="268897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336169" cy="268859"/>
            </a:xfrm>
            <a:custGeom>
              <a:avLst/>
              <a:gdLst/>
              <a:ahLst/>
              <a:cxnLst/>
              <a:rect r="r" b="b" t="t" l="l"/>
              <a:pathLst>
                <a:path h="268859" w="336169">
                  <a:moveTo>
                    <a:pt x="0" y="0"/>
                  </a:moveTo>
                  <a:lnTo>
                    <a:pt x="336169" y="0"/>
                  </a:lnTo>
                  <a:lnTo>
                    <a:pt x="336169" y="268859"/>
                  </a:lnTo>
                  <a:lnTo>
                    <a:pt x="0" y="268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40" r="-11" b="-954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1799237" y="5355622"/>
            <a:ext cx="5261038" cy="549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576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The integration gap — not the individual technique — is the core research problem.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682762"/>
            <a:ext cx="5911354" cy="35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Strengths &amp; Limitations by Approach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992988" y="1194833"/>
          <a:ext cx="16281420" cy="3660775"/>
        </p:xfrm>
        <a:graphic>
          <a:graphicData uri="http://schemas.openxmlformats.org/drawingml/2006/table">
            <a:tbl>
              <a:tblPr/>
              <a:tblGrid>
                <a:gridCol w="3594759"/>
                <a:gridCol w="6343330"/>
                <a:gridCol w="6343330"/>
              </a:tblGrid>
              <a:tr h="45879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151617"/>
                          </a:solidFill>
                          <a:latin typeface="Fira Code Bold"/>
                          <a:ea typeface="Fira Code Bold"/>
                          <a:cs typeface="Fira Code Bold"/>
                          <a:sym typeface="Fira Code Bold"/>
                        </a:rPr>
                        <a:t>Approach</a:t>
                      </a:r>
                      <a:endParaRPr lang="en-US" sz="1100"/>
                    </a:p>
                  </a:txBody>
                  <a:tcPr marL="82696" marR="82696" marT="82696" marB="82696" anchor="ctr">
                    <a:lnL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151617"/>
                          </a:solidFill>
                          <a:latin typeface="Fira Code Bold"/>
                          <a:ea typeface="Fira Code Bold"/>
                          <a:cs typeface="Fira Code Bold"/>
                          <a:sym typeface="Fira Code Bold"/>
                        </a:rPr>
                        <a:t>Strength</a:t>
                      </a:r>
                      <a:endParaRPr lang="en-US" sz="1100"/>
                    </a:p>
                  </a:txBody>
                  <a:tcPr marL="82696" marR="82696" marT="82696" marB="82696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151617"/>
                          </a:solidFill>
                          <a:latin typeface="Fira Code Bold"/>
                          <a:ea typeface="Fira Code Bold"/>
                          <a:cs typeface="Fira Code Bold"/>
                          <a:sym typeface="Fira Code Bold"/>
                        </a:rPr>
                        <a:t>Limitation</a:t>
                      </a:r>
                      <a:endParaRPr lang="en-US" sz="1100"/>
                    </a:p>
                  </a:txBody>
                  <a:tcPr marL="82696" marR="82696" marT="82696" marB="82696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6403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151617"/>
                          </a:solidFill>
                          <a:latin typeface="Fira Code Bold"/>
                          <a:ea typeface="Fira Code Bold"/>
                          <a:cs typeface="Fira Code Bold"/>
                          <a:sym typeface="Fira Code Bold"/>
                        </a:rPr>
                        <a:t>Log-Based Detection</a:t>
                      </a:r>
                      <a:endParaRPr lang="en-US" sz="1100"/>
                    </a:p>
                  </a:txBody>
                  <a:tcPr marL="82696" marR="82696" marT="82696" marB="82696" anchor="ctr">
                    <a:lnL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Detects abnormal system events with high precision across diverse log formats</a:t>
                      </a:r>
                      <a:endParaRPr lang="en-US" sz="1100"/>
                    </a:p>
                  </a:txBody>
                  <a:tcPr marL="82696" marR="82696" marT="82696" marB="82696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Dependent on log availability and quality; fails when logs are absent or malformed</a:t>
                      </a:r>
                      <a:endParaRPr lang="en-US" sz="1100"/>
                    </a:p>
                  </a:txBody>
                  <a:tcPr marL="82696" marR="82696" marT="82696" marB="82696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6403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151617"/>
                          </a:solidFill>
                          <a:latin typeface="Fira Code Bold"/>
                          <a:ea typeface="Fira Code Bold"/>
                          <a:cs typeface="Fira Code Bold"/>
                          <a:sym typeface="Fira Code Bold"/>
                        </a:rPr>
                        <a:t>Deep Learning</a:t>
                      </a:r>
                      <a:endParaRPr lang="en-US" sz="1100"/>
                    </a:p>
                  </a:txBody>
                  <a:tcPr marL="82696" marR="82696" marT="82696" marB="82696" anchor="ctr">
                    <a:lnL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Learns complex, non-linear anomaly patterns without manual feature engineering</a:t>
                      </a:r>
                      <a:endParaRPr lang="en-US" sz="1100"/>
                    </a:p>
                  </a:txBody>
                  <a:tcPr marL="82696" marR="82696" marT="82696" marB="82696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Requires substantial labeled or domain-specific training data to generalise reliably</a:t>
                      </a:r>
                      <a:endParaRPr lang="en-US" sz="1100"/>
                    </a:p>
                  </a:txBody>
                  <a:tcPr marL="82696" marR="82696" marT="82696" marB="82696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6403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151617"/>
                          </a:solidFill>
                          <a:latin typeface="Fira Code Bold"/>
                          <a:ea typeface="Fira Code Bold"/>
                          <a:cs typeface="Fira Code Bold"/>
                          <a:sym typeface="Fira Code Bold"/>
                        </a:rPr>
                        <a:t>Process Monitoring</a:t>
                      </a:r>
                      <a:endParaRPr lang="en-US" sz="1100"/>
                    </a:p>
                  </a:txBody>
                  <a:tcPr marL="82696" marR="82696" marT="82696" marB="82696" anchor="ctr">
                    <a:lnL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Provides granular process-level fault context and resource attribution</a:t>
                      </a:r>
                      <a:endParaRPr lang="en-US" sz="1100"/>
                    </a:p>
                  </a:txBody>
                  <a:tcPr marL="82696" marR="82696" marT="82696" marB="82696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Typically scoped to detection; lacks system-wide automated recovery integration</a:t>
                      </a:r>
                      <a:endParaRPr lang="en-US" sz="1100"/>
                    </a:p>
                  </a:txBody>
                  <a:tcPr marL="82696" marR="82696" marT="82696" marB="82696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6403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151617"/>
                          </a:solidFill>
                          <a:latin typeface="Fira Code Bold"/>
                          <a:ea typeface="Fira Code Bold"/>
                          <a:cs typeface="Fira Code Bold"/>
                          <a:sym typeface="Fira Code Bold"/>
                        </a:rPr>
                        <a:t>Resource Monitoring</a:t>
                      </a:r>
                      <a:endParaRPr lang="en-US" sz="1100"/>
                    </a:p>
                  </a:txBody>
                  <a:tcPr marL="82696" marR="82696" marT="82696" marB="82696" anchor="ctr">
                    <a:lnL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Delivers real-time, low-latency visibility into CPU, RAM, and disk health</a:t>
                      </a:r>
                      <a:endParaRPr lang="en-US" sz="1100"/>
                    </a:p>
                  </a:txBody>
                  <a:tcPr marL="82696" marR="82696" marT="82696" marB="82696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Threshold-based rules alone miss complex or multi-dimensional fault conditions</a:t>
                      </a:r>
                      <a:endParaRPr lang="en-US" sz="1100"/>
                    </a:p>
                  </a:txBody>
                  <a:tcPr marL="82696" marR="82696" marT="82696" marB="82696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6403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151617"/>
                          </a:solidFill>
                          <a:latin typeface="Fira Code Bold"/>
                          <a:ea typeface="Fira Code Bold"/>
                          <a:cs typeface="Fira Code Bold"/>
                          <a:sym typeface="Fira Code Bold"/>
                        </a:rPr>
                        <a:t>Automated Remediation</a:t>
                      </a:r>
                      <a:endParaRPr lang="en-US" sz="1100"/>
                    </a:p>
                  </a:txBody>
                  <a:tcPr marL="82696" marR="82696" marT="82696" marB="82696" anchor="ctr">
                    <a:lnL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Enables self-healing by autonomously executing recovery actions without human input</a:t>
                      </a:r>
                      <a:endParaRPr lang="en-US" sz="1100"/>
                    </a:p>
                  </a:txBody>
                  <a:tcPr marL="82696" marR="82696" marT="82696" marB="82696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>
                          <a:solidFill>
                            <a:srgbClr val="15161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Recovery decisions are often rule-based and lack adaptive or verification mechanisms</a:t>
                      </a:r>
                      <a:endParaRPr lang="en-US" sz="1100"/>
                    </a:p>
                  </a:txBody>
                  <a:tcPr marL="82696" marR="82696" marT="82696" marB="82696" anchor="ctr">
                    <a:lnL cmpd="sng" algn="ctr" cap="flat" w="12700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3122539" y="5008008"/>
            <a:ext cx="12056762" cy="5268003"/>
            <a:chOff x="0" y="0"/>
            <a:chExt cx="25789889" cy="11268466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5789857" cy="11268517"/>
            </a:xfrm>
            <a:custGeom>
              <a:avLst/>
              <a:gdLst/>
              <a:ahLst/>
              <a:cxnLst/>
              <a:rect r="r" b="b" t="t" l="l"/>
              <a:pathLst>
                <a:path h="11268517" w="25789857">
                  <a:moveTo>
                    <a:pt x="0" y="0"/>
                  </a:moveTo>
                  <a:lnTo>
                    <a:pt x="25789857" y="0"/>
                  </a:lnTo>
                  <a:lnTo>
                    <a:pt x="25789857" y="11268517"/>
                  </a:lnTo>
                  <a:lnTo>
                    <a:pt x="0" y="11268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369" r="0" b="-14368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33854"/>
            <a:ext cx="9093796" cy="622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8"/>
              </a:lnSpc>
            </a:pPr>
            <a:r>
              <a:rPr lang="en-US" sz="4053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Identified Research &amp; Project Gap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42258" y="1663113"/>
            <a:ext cx="7362587" cy="7888548"/>
            <a:chOff x="0" y="0"/>
            <a:chExt cx="9816782" cy="105180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816847" cy="10518140"/>
            </a:xfrm>
            <a:custGeom>
              <a:avLst/>
              <a:gdLst/>
              <a:ahLst/>
              <a:cxnLst/>
              <a:rect r="r" b="b" t="t" l="l"/>
              <a:pathLst>
                <a:path h="10518140" w="9816847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9801606" y="0"/>
                  </a:lnTo>
                  <a:cubicBezTo>
                    <a:pt x="9809988" y="0"/>
                    <a:pt x="9816847" y="6858"/>
                    <a:pt x="9816847" y="15240"/>
                  </a:cubicBezTo>
                  <a:lnTo>
                    <a:pt x="9816847" y="10502900"/>
                  </a:lnTo>
                  <a:cubicBezTo>
                    <a:pt x="9816847" y="10511282"/>
                    <a:pt x="9809988" y="10518140"/>
                    <a:pt x="9801606" y="10518140"/>
                  </a:cubicBezTo>
                  <a:lnTo>
                    <a:pt x="15240" y="10518140"/>
                  </a:lnTo>
                  <a:cubicBezTo>
                    <a:pt x="6858" y="10518140"/>
                    <a:pt x="0" y="10511282"/>
                    <a:pt x="0" y="1050290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51674" y="1830238"/>
            <a:ext cx="2627213" cy="31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Missing Integration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1674" y="2305545"/>
            <a:ext cx="6943763" cy="116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6"/>
              </a:lnSpc>
            </a:pPr>
            <a:r>
              <a:rPr lang="en-US" sz="1576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Existing studies predominantly address individual pipeline stages in isolation. The academic literature lacks a system that integrates all five of the following within a single, lightweight, OS-native pipeline: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51674" y="3778720"/>
            <a:ext cx="418967" cy="313994"/>
            <a:chOff x="0" y="0"/>
            <a:chExt cx="558622" cy="4186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8626" cy="418662"/>
            </a:xfrm>
            <a:custGeom>
              <a:avLst/>
              <a:gdLst/>
              <a:ahLst/>
              <a:cxnLst/>
              <a:rect r="r" b="b" t="t" l="l"/>
              <a:pathLst>
                <a:path h="418662" w="558626">
                  <a:moveTo>
                    <a:pt x="0" y="0"/>
                  </a:moveTo>
                  <a:lnTo>
                    <a:pt x="558626" y="0"/>
                  </a:lnTo>
                  <a:lnTo>
                    <a:pt x="558626" y="418662"/>
                  </a:lnTo>
                  <a:lnTo>
                    <a:pt x="0" y="4186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5" t="0" r="-30185" b="1660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558622" cy="4186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51674" y="4106104"/>
            <a:ext cx="6943763" cy="28594"/>
            <a:chOff x="0" y="0"/>
            <a:chExt cx="9258351" cy="381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258300" cy="38100"/>
            </a:xfrm>
            <a:custGeom>
              <a:avLst/>
              <a:gdLst/>
              <a:ahLst/>
              <a:cxnLst/>
              <a:rect r="r" b="b" t="t" l="l"/>
              <a:pathLst>
                <a:path h="38100" w="9258300">
                  <a:moveTo>
                    <a:pt x="0" y="0"/>
                  </a:moveTo>
                  <a:lnTo>
                    <a:pt x="9258300" y="0"/>
                  </a:lnTo>
                  <a:lnTo>
                    <a:pt x="92583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51617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51674" y="4258475"/>
            <a:ext cx="6943763" cy="336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Real-time OS resource monitoring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51674" y="4928873"/>
            <a:ext cx="418967" cy="313994"/>
            <a:chOff x="0" y="0"/>
            <a:chExt cx="558622" cy="41865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8626" cy="418662"/>
            </a:xfrm>
            <a:custGeom>
              <a:avLst/>
              <a:gdLst/>
              <a:ahLst/>
              <a:cxnLst/>
              <a:rect r="r" b="b" t="t" l="l"/>
              <a:pathLst>
                <a:path h="418662" w="558626">
                  <a:moveTo>
                    <a:pt x="0" y="0"/>
                  </a:moveTo>
                  <a:lnTo>
                    <a:pt x="558626" y="0"/>
                  </a:lnTo>
                  <a:lnTo>
                    <a:pt x="558626" y="418662"/>
                  </a:lnTo>
                  <a:lnTo>
                    <a:pt x="0" y="4186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5" t="0" r="-30185" b="1660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558622" cy="4186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51674" y="5256247"/>
            <a:ext cx="6943763" cy="28594"/>
            <a:chOff x="0" y="0"/>
            <a:chExt cx="9258351" cy="381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258300" cy="38100"/>
            </a:xfrm>
            <a:custGeom>
              <a:avLst/>
              <a:gdLst/>
              <a:ahLst/>
              <a:cxnLst/>
              <a:rect r="r" b="b" t="t" l="l"/>
              <a:pathLst>
                <a:path h="38100" w="9258300">
                  <a:moveTo>
                    <a:pt x="0" y="0"/>
                  </a:moveTo>
                  <a:lnTo>
                    <a:pt x="9258300" y="0"/>
                  </a:lnTo>
                  <a:lnTo>
                    <a:pt x="92583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51617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51674" y="5408628"/>
            <a:ext cx="6943763" cy="336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ML-based fault classification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51674" y="6079017"/>
            <a:ext cx="418967" cy="313994"/>
            <a:chOff x="0" y="0"/>
            <a:chExt cx="558622" cy="41865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58626" cy="418662"/>
            </a:xfrm>
            <a:custGeom>
              <a:avLst/>
              <a:gdLst/>
              <a:ahLst/>
              <a:cxnLst/>
              <a:rect r="r" b="b" t="t" l="l"/>
              <a:pathLst>
                <a:path h="418662" w="558626">
                  <a:moveTo>
                    <a:pt x="0" y="0"/>
                  </a:moveTo>
                  <a:lnTo>
                    <a:pt x="558626" y="0"/>
                  </a:lnTo>
                  <a:lnTo>
                    <a:pt x="558626" y="418662"/>
                  </a:lnTo>
                  <a:lnTo>
                    <a:pt x="0" y="4186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5" t="0" r="-30185" b="1660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558622" cy="4186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51674" y="6406401"/>
            <a:ext cx="6943763" cy="28594"/>
            <a:chOff x="0" y="0"/>
            <a:chExt cx="9258351" cy="381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58300" cy="38100"/>
            </a:xfrm>
            <a:custGeom>
              <a:avLst/>
              <a:gdLst/>
              <a:ahLst/>
              <a:cxnLst/>
              <a:rect r="r" b="b" t="t" l="l"/>
              <a:pathLst>
                <a:path h="38100" w="9258300">
                  <a:moveTo>
                    <a:pt x="0" y="0"/>
                  </a:moveTo>
                  <a:lnTo>
                    <a:pt x="9258300" y="0"/>
                  </a:lnTo>
                  <a:lnTo>
                    <a:pt x="92583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51617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51674" y="6558782"/>
            <a:ext cx="6943763" cy="336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Automated recovery action selection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51674" y="7229170"/>
            <a:ext cx="418967" cy="313994"/>
            <a:chOff x="0" y="0"/>
            <a:chExt cx="558622" cy="41865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58626" cy="418662"/>
            </a:xfrm>
            <a:custGeom>
              <a:avLst/>
              <a:gdLst/>
              <a:ahLst/>
              <a:cxnLst/>
              <a:rect r="r" b="b" t="t" l="l"/>
              <a:pathLst>
                <a:path h="418662" w="558626">
                  <a:moveTo>
                    <a:pt x="0" y="0"/>
                  </a:moveTo>
                  <a:lnTo>
                    <a:pt x="558626" y="0"/>
                  </a:lnTo>
                  <a:lnTo>
                    <a:pt x="558626" y="418662"/>
                  </a:lnTo>
                  <a:lnTo>
                    <a:pt x="0" y="4186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5" t="0" r="-30185" b="1660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558622" cy="4186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51674" y="7556554"/>
            <a:ext cx="6943763" cy="28594"/>
            <a:chOff x="0" y="0"/>
            <a:chExt cx="9258351" cy="3812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258300" cy="38100"/>
            </a:xfrm>
            <a:custGeom>
              <a:avLst/>
              <a:gdLst/>
              <a:ahLst/>
              <a:cxnLst/>
              <a:rect r="r" b="b" t="t" l="l"/>
              <a:pathLst>
                <a:path h="38100" w="9258300">
                  <a:moveTo>
                    <a:pt x="0" y="0"/>
                  </a:moveTo>
                  <a:lnTo>
                    <a:pt x="9258300" y="0"/>
                  </a:lnTo>
                  <a:lnTo>
                    <a:pt x="92583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51617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51674" y="7708925"/>
            <a:ext cx="6943763" cy="336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Post-recovery state verification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051674" y="8379314"/>
            <a:ext cx="418967" cy="313994"/>
            <a:chOff x="0" y="0"/>
            <a:chExt cx="558622" cy="41865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58626" cy="418662"/>
            </a:xfrm>
            <a:custGeom>
              <a:avLst/>
              <a:gdLst/>
              <a:ahLst/>
              <a:cxnLst/>
              <a:rect r="r" b="b" t="t" l="l"/>
              <a:pathLst>
                <a:path h="418662" w="558626">
                  <a:moveTo>
                    <a:pt x="0" y="0"/>
                  </a:moveTo>
                  <a:lnTo>
                    <a:pt x="558626" y="0"/>
                  </a:lnTo>
                  <a:lnTo>
                    <a:pt x="558626" y="418662"/>
                  </a:lnTo>
                  <a:lnTo>
                    <a:pt x="0" y="4186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5" t="0" r="-30185" b="1660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558622" cy="4186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05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51674" y="8706698"/>
            <a:ext cx="6943763" cy="28594"/>
            <a:chOff x="0" y="0"/>
            <a:chExt cx="9258351" cy="3812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258300" cy="38100"/>
            </a:xfrm>
            <a:custGeom>
              <a:avLst/>
              <a:gdLst/>
              <a:ahLst/>
              <a:cxnLst/>
              <a:rect r="r" b="b" t="t" l="l"/>
              <a:pathLst>
                <a:path h="38100" w="9258300">
                  <a:moveTo>
                    <a:pt x="0" y="0"/>
                  </a:moveTo>
                  <a:lnTo>
                    <a:pt x="9258300" y="0"/>
                  </a:lnTo>
                  <a:lnTo>
                    <a:pt x="92583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51617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051674" y="8859079"/>
            <a:ext cx="6943763" cy="336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Recovery logging for future learning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574519" y="1830238"/>
            <a:ext cx="3425627" cy="31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Where the Gap Manifests</a:t>
            </a:r>
          </a:p>
        </p:txBody>
      </p:sp>
      <p:sp>
        <p:nvSpPr>
          <p:cNvPr name="Freeform 42" id="42" descr="preencoded.png"/>
          <p:cNvSpPr/>
          <p:nvPr/>
        </p:nvSpPr>
        <p:spPr>
          <a:xfrm flipH="false" flipV="false" rot="0">
            <a:off x="8574519" y="2365839"/>
            <a:ext cx="8743712" cy="1607553"/>
          </a:xfrm>
          <a:custGeom>
            <a:avLst/>
            <a:gdLst/>
            <a:ahLst/>
            <a:cxnLst/>
            <a:rect r="r" b="b" t="t" l="l"/>
            <a:pathLst>
              <a:path h="1607553" w="8743712">
                <a:moveTo>
                  <a:pt x="0" y="0"/>
                </a:moveTo>
                <a:lnTo>
                  <a:pt x="8743712" y="0"/>
                </a:lnTo>
                <a:lnTo>
                  <a:pt x="8743712" y="1607553"/>
                </a:lnTo>
                <a:lnTo>
                  <a:pt x="0" y="1607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5" r="0" b="-66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8926916" y="2594324"/>
            <a:ext cx="8153314" cy="31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Detection </a:t>
            </a:r>
            <a:r>
              <a:rPr lang="en-US" sz="2026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↔</a:t>
            </a:r>
            <a:r>
              <a:rPr lang="en-US" sz="2026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Recovery Disconnect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926916" y="3016108"/>
            <a:ext cx="8153314" cy="86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6"/>
              </a:lnSpc>
            </a:pPr>
            <a:r>
              <a:rPr lang="en-US" sz="1576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Log-based and transformer-based detection methods stop at anomaly identification; recovery is left to separate, often manual, processes.</a:t>
            </a:r>
          </a:p>
        </p:txBody>
      </p:sp>
      <p:sp>
        <p:nvSpPr>
          <p:cNvPr name="Freeform 45" id="45" descr="preencoded.png"/>
          <p:cNvSpPr/>
          <p:nvPr/>
        </p:nvSpPr>
        <p:spPr>
          <a:xfrm flipH="false" flipV="false" rot="0">
            <a:off x="8574519" y="4150042"/>
            <a:ext cx="8743712" cy="1907086"/>
          </a:xfrm>
          <a:custGeom>
            <a:avLst/>
            <a:gdLst/>
            <a:ahLst/>
            <a:cxnLst/>
            <a:rect r="r" b="b" t="t" l="l"/>
            <a:pathLst>
              <a:path h="1907086" w="8743712">
                <a:moveTo>
                  <a:pt x="0" y="0"/>
                </a:moveTo>
                <a:lnTo>
                  <a:pt x="8743712" y="0"/>
                </a:lnTo>
                <a:lnTo>
                  <a:pt x="8743712" y="1907086"/>
                </a:lnTo>
                <a:lnTo>
                  <a:pt x="0" y="19070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93" r="0" b="-193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8926916" y="4378528"/>
            <a:ext cx="3975795" cy="31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Cloud vs. OS Scope Mismatch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926916" y="4853835"/>
            <a:ext cx="8153314" cy="86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6"/>
              </a:lnSpc>
            </a:pPr>
            <a:r>
              <a:rPr lang="en-US" sz="1576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Self-healing capabilities that do exist (CROSS, Cloud-Based AI Systems) are designed for cloud infrastructure — not applicable to general-purpose operating systems.</a:t>
            </a:r>
          </a:p>
        </p:txBody>
      </p:sp>
      <p:sp>
        <p:nvSpPr>
          <p:cNvPr name="Freeform 48" id="48" descr="preencoded.png"/>
          <p:cNvSpPr/>
          <p:nvPr/>
        </p:nvSpPr>
        <p:spPr>
          <a:xfrm flipH="false" flipV="false" rot="0">
            <a:off x="8574519" y="6233770"/>
            <a:ext cx="8743712" cy="1598028"/>
          </a:xfrm>
          <a:custGeom>
            <a:avLst/>
            <a:gdLst/>
            <a:ahLst/>
            <a:cxnLst/>
            <a:rect r="r" b="b" t="t" l="l"/>
            <a:pathLst>
              <a:path h="1598028" w="8743712">
                <a:moveTo>
                  <a:pt x="0" y="0"/>
                </a:moveTo>
                <a:lnTo>
                  <a:pt x="8743712" y="0"/>
                </a:lnTo>
                <a:lnTo>
                  <a:pt x="8743712" y="1598028"/>
                </a:lnTo>
                <a:lnTo>
                  <a:pt x="0" y="15980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66" r="0" b="-66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8926916" y="6462265"/>
            <a:ext cx="2866331" cy="31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Verification Stage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926916" y="6937562"/>
            <a:ext cx="8153314" cy="57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6"/>
              </a:lnSpc>
            </a:pPr>
            <a:r>
              <a:rPr lang="en-US" sz="1576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No reviewed paper includes post-recovery verification to confirm system return to a stable baseline — a critical reliability gap.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194835"/>
            <a:ext cx="12636698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sz="975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The SelfHealOS pipeline is structured as eight sequential stages, each with a distinct responsibility — from continuous observation through to auditable recovery logging.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54233" y="1413339"/>
            <a:ext cx="15793231" cy="5926503"/>
            <a:chOff x="0" y="0"/>
            <a:chExt cx="21057641" cy="7902004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057615" cy="7901940"/>
            </a:xfrm>
            <a:custGeom>
              <a:avLst/>
              <a:gdLst/>
              <a:ahLst/>
              <a:cxnLst/>
              <a:rect r="r" b="b" t="t" l="l"/>
              <a:pathLst>
                <a:path h="7901940" w="21057615">
                  <a:moveTo>
                    <a:pt x="0" y="0"/>
                  </a:moveTo>
                  <a:lnTo>
                    <a:pt x="21057615" y="0"/>
                  </a:lnTo>
                  <a:lnTo>
                    <a:pt x="21057615" y="7901940"/>
                  </a:lnTo>
                  <a:lnTo>
                    <a:pt x="0" y="7901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37" r="0" b="-3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4015018" y="5891593"/>
            <a:ext cx="2382098" cy="46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sz="2852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Confirm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77137" y="8997467"/>
            <a:ext cx="8136484" cy="656692"/>
            <a:chOff x="0" y="0"/>
            <a:chExt cx="10848645" cy="8755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848721" cy="875665"/>
            </a:xfrm>
            <a:custGeom>
              <a:avLst/>
              <a:gdLst/>
              <a:ahLst/>
              <a:cxnLst/>
              <a:rect r="r" b="b" t="t" l="l"/>
              <a:pathLst>
                <a:path h="875665" w="10848721">
                  <a:moveTo>
                    <a:pt x="0" y="15494"/>
                  </a:moveTo>
                  <a:cubicBezTo>
                    <a:pt x="0" y="6985"/>
                    <a:pt x="6985" y="0"/>
                    <a:pt x="15494" y="0"/>
                  </a:cubicBezTo>
                  <a:lnTo>
                    <a:pt x="10833227" y="0"/>
                  </a:lnTo>
                  <a:cubicBezTo>
                    <a:pt x="10841736" y="0"/>
                    <a:pt x="10848721" y="6985"/>
                    <a:pt x="10848721" y="15494"/>
                  </a:cubicBezTo>
                  <a:lnTo>
                    <a:pt x="10848721" y="860171"/>
                  </a:lnTo>
                  <a:cubicBezTo>
                    <a:pt x="10848721" y="868680"/>
                    <a:pt x="10841736" y="875665"/>
                    <a:pt x="10833227" y="875665"/>
                  </a:cubicBezTo>
                  <a:lnTo>
                    <a:pt x="15494" y="875665"/>
                  </a:lnTo>
                  <a:cubicBezTo>
                    <a:pt x="6985" y="875538"/>
                    <a:pt x="0" y="868680"/>
                    <a:pt x="0" y="860171"/>
                  </a:cubicBezTo>
                  <a:close/>
                </a:path>
              </a:pathLst>
            </a:custGeom>
            <a:solidFill>
              <a:srgbClr val="F8ECE4"/>
            </a:solidFill>
            <a:ln w="9532" cap="sq">
              <a:solidFill>
                <a:srgbClr val="151617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1012929" y="5891593"/>
            <a:ext cx="2382098" cy="46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sz="2852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Classify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27146" y="5891593"/>
            <a:ext cx="2382098" cy="46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sz="2852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Detect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41373" y="5891593"/>
            <a:ext cx="2382098" cy="46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sz="2852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90334" y="5891593"/>
            <a:ext cx="2382098" cy="46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sz="2852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Monitor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73131" y="6829301"/>
            <a:ext cx="8136484" cy="656692"/>
            <a:chOff x="0" y="0"/>
            <a:chExt cx="10848645" cy="87558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48721" cy="875665"/>
            </a:xfrm>
            <a:custGeom>
              <a:avLst/>
              <a:gdLst/>
              <a:ahLst/>
              <a:cxnLst/>
              <a:rect r="r" b="b" t="t" l="l"/>
              <a:pathLst>
                <a:path h="875665" w="10848721">
                  <a:moveTo>
                    <a:pt x="0" y="15494"/>
                  </a:moveTo>
                  <a:cubicBezTo>
                    <a:pt x="0" y="6985"/>
                    <a:pt x="6985" y="0"/>
                    <a:pt x="15494" y="0"/>
                  </a:cubicBezTo>
                  <a:lnTo>
                    <a:pt x="10833227" y="0"/>
                  </a:lnTo>
                  <a:cubicBezTo>
                    <a:pt x="10841736" y="0"/>
                    <a:pt x="10848721" y="6985"/>
                    <a:pt x="10848721" y="15494"/>
                  </a:cubicBezTo>
                  <a:lnTo>
                    <a:pt x="10848721" y="860171"/>
                  </a:lnTo>
                  <a:cubicBezTo>
                    <a:pt x="10848721" y="868680"/>
                    <a:pt x="10841736" y="875665"/>
                    <a:pt x="10833227" y="875665"/>
                  </a:cubicBezTo>
                  <a:lnTo>
                    <a:pt x="15494" y="875665"/>
                  </a:lnTo>
                  <a:cubicBezTo>
                    <a:pt x="6985" y="875538"/>
                    <a:pt x="0" y="868680"/>
                    <a:pt x="0" y="860171"/>
                  </a:cubicBezTo>
                  <a:close/>
                </a:path>
              </a:pathLst>
            </a:custGeom>
            <a:solidFill>
              <a:srgbClr val="F8ECE4"/>
            </a:solidFill>
            <a:ln w="9532" cap="sq">
              <a:solidFill>
                <a:srgbClr val="15161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177137" y="6829301"/>
            <a:ext cx="8136484" cy="656692"/>
            <a:chOff x="0" y="0"/>
            <a:chExt cx="10848645" cy="8755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848721" cy="875665"/>
            </a:xfrm>
            <a:custGeom>
              <a:avLst/>
              <a:gdLst/>
              <a:ahLst/>
              <a:cxnLst/>
              <a:rect r="r" b="b" t="t" l="l"/>
              <a:pathLst>
                <a:path h="875665" w="10848721">
                  <a:moveTo>
                    <a:pt x="0" y="15494"/>
                  </a:moveTo>
                  <a:cubicBezTo>
                    <a:pt x="0" y="6985"/>
                    <a:pt x="6985" y="0"/>
                    <a:pt x="15494" y="0"/>
                  </a:cubicBezTo>
                  <a:lnTo>
                    <a:pt x="10833227" y="0"/>
                  </a:lnTo>
                  <a:cubicBezTo>
                    <a:pt x="10841736" y="0"/>
                    <a:pt x="10848721" y="6985"/>
                    <a:pt x="10848721" y="15494"/>
                  </a:cubicBezTo>
                  <a:lnTo>
                    <a:pt x="10848721" y="860171"/>
                  </a:lnTo>
                  <a:cubicBezTo>
                    <a:pt x="10848721" y="868680"/>
                    <a:pt x="10841736" y="875665"/>
                    <a:pt x="10833227" y="875665"/>
                  </a:cubicBezTo>
                  <a:lnTo>
                    <a:pt x="15494" y="875665"/>
                  </a:lnTo>
                  <a:cubicBezTo>
                    <a:pt x="6985" y="875538"/>
                    <a:pt x="0" y="868680"/>
                    <a:pt x="0" y="860171"/>
                  </a:cubicBezTo>
                  <a:close/>
                </a:path>
              </a:pathLst>
            </a:custGeom>
            <a:solidFill>
              <a:srgbClr val="F8ECE4"/>
            </a:solidFill>
            <a:ln w="9532" cap="sq">
              <a:solidFill>
                <a:srgbClr val="15161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73131" y="7550734"/>
            <a:ext cx="8136484" cy="656692"/>
            <a:chOff x="0" y="0"/>
            <a:chExt cx="10848645" cy="87558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48721" cy="875665"/>
            </a:xfrm>
            <a:custGeom>
              <a:avLst/>
              <a:gdLst/>
              <a:ahLst/>
              <a:cxnLst/>
              <a:rect r="r" b="b" t="t" l="l"/>
              <a:pathLst>
                <a:path h="875665" w="10848721">
                  <a:moveTo>
                    <a:pt x="0" y="15494"/>
                  </a:moveTo>
                  <a:cubicBezTo>
                    <a:pt x="0" y="6985"/>
                    <a:pt x="6985" y="0"/>
                    <a:pt x="15494" y="0"/>
                  </a:cubicBezTo>
                  <a:lnTo>
                    <a:pt x="10833227" y="0"/>
                  </a:lnTo>
                  <a:cubicBezTo>
                    <a:pt x="10841736" y="0"/>
                    <a:pt x="10848721" y="6985"/>
                    <a:pt x="10848721" y="15494"/>
                  </a:cubicBezTo>
                  <a:lnTo>
                    <a:pt x="10848721" y="860171"/>
                  </a:lnTo>
                  <a:cubicBezTo>
                    <a:pt x="10848721" y="868680"/>
                    <a:pt x="10841736" y="875665"/>
                    <a:pt x="10833227" y="875665"/>
                  </a:cubicBezTo>
                  <a:lnTo>
                    <a:pt x="15494" y="875665"/>
                  </a:lnTo>
                  <a:cubicBezTo>
                    <a:pt x="6985" y="875538"/>
                    <a:pt x="0" y="868680"/>
                    <a:pt x="0" y="860171"/>
                  </a:cubicBezTo>
                  <a:close/>
                </a:path>
              </a:pathLst>
            </a:custGeom>
            <a:solidFill>
              <a:srgbClr val="F8ECE4"/>
            </a:solidFill>
            <a:ln w="9532" cap="sq">
              <a:solidFill>
                <a:srgbClr val="151617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73131" y="8997467"/>
            <a:ext cx="8136484" cy="656692"/>
            <a:chOff x="0" y="0"/>
            <a:chExt cx="10848645" cy="87558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48721" cy="875665"/>
            </a:xfrm>
            <a:custGeom>
              <a:avLst/>
              <a:gdLst/>
              <a:ahLst/>
              <a:cxnLst/>
              <a:rect r="r" b="b" t="t" l="l"/>
              <a:pathLst>
                <a:path h="875665" w="10848721">
                  <a:moveTo>
                    <a:pt x="0" y="15494"/>
                  </a:moveTo>
                  <a:cubicBezTo>
                    <a:pt x="0" y="6985"/>
                    <a:pt x="6985" y="0"/>
                    <a:pt x="15494" y="0"/>
                  </a:cubicBezTo>
                  <a:lnTo>
                    <a:pt x="10833227" y="0"/>
                  </a:lnTo>
                  <a:cubicBezTo>
                    <a:pt x="10841736" y="0"/>
                    <a:pt x="10848721" y="6985"/>
                    <a:pt x="10848721" y="15494"/>
                  </a:cubicBezTo>
                  <a:lnTo>
                    <a:pt x="10848721" y="860171"/>
                  </a:lnTo>
                  <a:cubicBezTo>
                    <a:pt x="10848721" y="868680"/>
                    <a:pt x="10841736" y="875665"/>
                    <a:pt x="10833227" y="875665"/>
                  </a:cubicBezTo>
                  <a:lnTo>
                    <a:pt x="15494" y="875665"/>
                  </a:lnTo>
                  <a:cubicBezTo>
                    <a:pt x="6985" y="875538"/>
                    <a:pt x="0" y="868680"/>
                    <a:pt x="0" y="860171"/>
                  </a:cubicBezTo>
                  <a:close/>
                </a:path>
              </a:pathLst>
            </a:custGeom>
            <a:solidFill>
              <a:srgbClr val="F8ECE4"/>
            </a:solidFill>
            <a:ln w="9532" cap="sq">
              <a:solidFill>
                <a:srgbClr val="151617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177137" y="7550734"/>
            <a:ext cx="8136484" cy="656692"/>
            <a:chOff x="0" y="0"/>
            <a:chExt cx="10848645" cy="87558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848721" cy="875665"/>
            </a:xfrm>
            <a:custGeom>
              <a:avLst/>
              <a:gdLst/>
              <a:ahLst/>
              <a:cxnLst/>
              <a:rect r="r" b="b" t="t" l="l"/>
              <a:pathLst>
                <a:path h="875665" w="10848721">
                  <a:moveTo>
                    <a:pt x="0" y="15494"/>
                  </a:moveTo>
                  <a:cubicBezTo>
                    <a:pt x="0" y="6985"/>
                    <a:pt x="6985" y="0"/>
                    <a:pt x="15494" y="0"/>
                  </a:cubicBezTo>
                  <a:lnTo>
                    <a:pt x="10833227" y="0"/>
                  </a:lnTo>
                  <a:cubicBezTo>
                    <a:pt x="10841736" y="0"/>
                    <a:pt x="10848721" y="6985"/>
                    <a:pt x="10848721" y="15494"/>
                  </a:cubicBezTo>
                  <a:lnTo>
                    <a:pt x="10848721" y="860171"/>
                  </a:lnTo>
                  <a:cubicBezTo>
                    <a:pt x="10848721" y="868680"/>
                    <a:pt x="10841736" y="875665"/>
                    <a:pt x="10833227" y="875665"/>
                  </a:cubicBezTo>
                  <a:lnTo>
                    <a:pt x="15494" y="875665"/>
                  </a:lnTo>
                  <a:cubicBezTo>
                    <a:pt x="6985" y="875538"/>
                    <a:pt x="0" y="868680"/>
                    <a:pt x="0" y="860171"/>
                  </a:cubicBezTo>
                  <a:close/>
                </a:path>
              </a:pathLst>
            </a:custGeom>
            <a:solidFill>
              <a:srgbClr val="F8ECE4"/>
            </a:solidFill>
            <a:ln w="9532" cap="sq">
              <a:solidFill>
                <a:srgbClr val="151617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73131" y="8264576"/>
            <a:ext cx="8136484" cy="656692"/>
            <a:chOff x="0" y="0"/>
            <a:chExt cx="10848645" cy="87558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848721" cy="875665"/>
            </a:xfrm>
            <a:custGeom>
              <a:avLst/>
              <a:gdLst/>
              <a:ahLst/>
              <a:cxnLst/>
              <a:rect r="r" b="b" t="t" l="l"/>
              <a:pathLst>
                <a:path h="875665" w="10848721">
                  <a:moveTo>
                    <a:pt x="0" y="15494"/>
                  </a:moveTo>
                  <a:cubicBezTo>
                    <a:pt x="0" y="6985"/>
                    <a:pt x="6985" y="0"/>
                    <a:pt x="15494" y="0"/>
                  </a:cubicBezTo>
                  <a:lnTo>
                    <a:pt x="10833227" y="0"/>
                  </a:lnTo>
                  <a:cubicBezTo>
                    <a:pt x="10841736" y="0"/>
                    <a:pt x="10848721" y="6985"/>
                    <a:pt x="10848721" y="15494"/>
                  </a:cubicBezTo>
                  <a:lnTo>
                    <a:pt x="10848721" y="860171"/>
                  </a:lnTo>
                  <a:cubicBezTo>
                    <a:pt x="10848721" y="868680"/>
                    <a:pt x="10841736" y="875665"/>
                    <a:pt x="10833227" y="875665"/>
                  </a:cubicBezTo>
                  <a:lnTo>
                    <a:pt x="15494" y="875665"/>
                  </a:lnTo>
                  <a:cubicBezTo>
                    <a:pt x="6985" y="875538"/>
                    <a:pt x="0" y="868680"/>
                    <a:pt x="0" y="860171"/>
                  </a:cubicBezTo>
                  <a:close/>
                </a:path>
              </a:pathLst>
            </a:custGeom>
            <a:solidFill>
              <a:srgbClr val="F8ECE4"/>
            </a:solidFill>
            <a:ln w="9532" cap="sq">
              <a:solidFill>
                <a:srgbClr val="151617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186935" y="8264576"/>
            <a:ext cx="8136484" cy="656692"/>
            <a:chOff x="0" y="0"/>
            <a:chExt cx="10848645" cy="87558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848721" cy="875665"/>
            </a:xfrm>
            <a:custGeom>
              <a:avLst/>
              <a:gdLst/>
              <a:ahLst/>
              <a:cxnLst/>
              <a:rect r="r" b="b" t="t" l="l"/>
              <a:pathLst>
                <a:path h="875665" w="10848721">
                  <a:moveTo>
                    <a:pt x="0" y="15494"/>
                  </a:moveTo>
                  <a:cubicBezTo>
                    <a:pt x="0" y="6985"/>
                    <a:pt x="6985" y="0"/>
                    <a:pt x="15494" y="0"/>
                  </a:cubicBezTo>
                  <a:lnTo>
                    <a:pt x="10833227" y="0"/>
                  </a:lnTo>
                  <a:cubicBezTo>
                    <a:pt x="10841736" y="0"/>
                    <a:pt x="10848721" y="6985"/>
                    <a:pt x="10848721" y="15494"/>
                  </a:cubicBezTo>
                  <a:lnTo>
                    <a:pt x="10848721" y="860171"/>
                  </a:lnTo>
                  <a:cubicBezTo>
                    <a:pt x="10848721" y="868680"/>
                    <a:pt x="10841736" y="875665"/>
                    <a:pt x="10833227" y="875665"/>
                  </a:cubicBezTo>
                  <a:lnTo>
                    <a:pt x="15494" y="875665"/>
                  </a:lnTo>
                  <a:cubicBezTo>
                    <a:pt x="6985" y="875538"/>
                    <a:pt x="0" y="868680"/>
                    <a:pt x="0" y="860171"/>
                  </a:cubicBezTo>
                  <a:close/>
                </a:path>
              </a:pathLst>
            </a:custGeom>
            <a:solidFill>
              <a:srgbClr val="F8ECE4"/>
            </a:solidFill>
            <a:ln w="9532" cap="sq">
              <a:solidFill>
                <a:srgbClr val="151617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992991" y="682762"/>
            <a:ext cx="5143699" cy="35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SelfHealOS System Architecture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39574" y="6919756"/>
            <a:ext cx="1684734" cy="23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7"/>
              </a:lnSpc>
            </a:pPr>
            <a:r>
              <a:rPr lang="en-US" sz="1600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Monitor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7249416"/>
            <a:ext cx="608082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Continuously observes system health and runtime behavior.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218195" y="6919751"/>
            <a:ext cx="1639788" cy="237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6"/>
              </a:lnSpc>
            </a:pPr>
            <a:r>
              <a:rPr lang="en-US" sz="1599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Collection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218195" y="7235066"/>
            <a:ext cx="565408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Captures OS metrics and process signals for analysis.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39574" y="7672088"/>
            <a:ext cx="1658243" cy="23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7"/>
              </a:lnSpc>
            </a:pPr>
            <a:r>
              <a:rPr lang="en-US" sz="1600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Fault Detection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39574" y="7917180"/>
            <a:ext cx="490736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Identifies anomalies and raises a fault event.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218195" y="7592166"/>
            <a:ext cx="1795661" cy="23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7"/>
              </a:lnSpc>
            </a:pPr>
            <a:r>
              <a:rPr lang="en-US" sz="1600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ML Classification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218195" y="7917180"/>
            <a:ext cx="501402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Assigns the fault to a recovery-relevant class.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47710" y="8339097"/>
            <a:ext cx="2013942" cy="23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7"/>
              </a:lnSpc>
            </a:pPr>
            <a:r>
              <a:rPr lang="en-US" sz="1600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Fault Confirmation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47710" y="8643662"/>
            <a:ext cx="618748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Validates the fault before any corrective action is taken.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218195" y="8643662"/>
            <a:ext cx="608082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Selects and executes the appropriate self-healing action.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216474" y="8339097"/>
            <a:ext cx="1796455" cy="23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7"/>
              </a:lnSpc>
            </a:pPr>
            <a:r>
              <a:rPr lang="en-US" sz="1600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Recovery Engine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95285" y="9325813"/>
            <a:ext cx="621605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Confirms the system has returned to a stable state.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47710" y="9087922"/>
            <a:ext cx="1237357" cy="23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7"/>
              </a:lnSpc>
            </a:pPr>
            <a:r>
              <a:rPr lang="en-US" sz="1600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Verification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218195" y="9087922"/>
            <a:ext cx="1445617" cy="23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7"/>
              </a:lnSpc>
            </a:pPr>
            <a:r>
              <a:rPr lang="en-US" sz="1600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Recovery Log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218195" y="9382963"/>
            <a:ext cx="533400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Stores the event for auditing and future learning.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999725"/>
            <a:ext cx="16315868" cy="751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8"/>
              </a:lnSpc>
            </a:pPr>
            <a:r>
              <a:rPr lang="en-US" sz="4878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SelfHealOS: Monitored Parameters &amp; Fault Classes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3181160"/>
            <a:ext cx="3609281" cy="35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Monitored Parameters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991" y="3848424"/>
            <a:ext cx="6162875" cy="2554996"/>
          </a:xfrm>
          <a:custGeom>
            <a:avLst/>
            <a:gdLst/>
            <a:ahLst/>
            <a:cxnLst/>
            <a:rect r="r" b="b" t="t" l="l"/>
            <a:pathLst>
              <a:path h="2554996" w="6162875">
                <a:moveTo>
                  <a:pt x="0" y="0"/>
                </a:moveTo>
                <a:lnTo>
                  <a:pt x="6162875" y="0"/>
                </a:lnTo>
                <a:lnTo>
                  <a:pt x="6162875" y="2554995"/>
                </a:lnTo>
                <a:lnTo>
                  <a:pt x="0" y="25549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52" r="0" b="-251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27061" y="4893126"/>
            <a:ext cx="372351" cy="465449"/>
            <a:chOff x="0" y="0"/>
            <a:chExt cx="496468" cy="6205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6470" cy="620603"/>
            </a:xfrm>
            <a:custGeom>
              <a:avLst/>
              <a:gdLst/>
              <a:ahLst/>
              <a:cxnLst/>
              <a:rect r="r" b="b" t="t" l="l"/>
              <a:pathLst>
                <a:path h="620603" w="496470">
                  <a:moveTo>
                    <a:pt x="0" y="0"/>
                  </a:moveTo>
                  <a:lnTo>
                    <a:pt x="496470" y="0"/>
                  </a:lnTo>
                  <a:lnTo>
                    <a:pt x="496470" y="620603"/>
                  </a:lnTo>
                  <a:lnTo>
                    <a:pt x="0" y="62060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82" t="0" r="-110382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496468" cy="6205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12"/>
                </a:lnSpc>
              </a:pPr>
              <a:r>
                <a:rPr lang="en-US" sz="2927">
                  <a:solidFill>
                    <a:srgbClr val="1516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262711" y="4125163"/>
            <a:ext cx="2145010" cy="35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System-Level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62711" y="4685109"/>
            <a:ext cx="4616415" cy="1149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3452" indent="-176726" lvl="1">
              <a:lnSpc>
                <a:spcPts val="3114"/>
              </a:lnSpc>
              <a:buFont typeface="Arial"/>
              <a:buChar char="•"/>
            </a:pPr>
            <a:r>
              <a:rPr lang="en-US" sz="1951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CPU usage</a:t>
            </a:r>
          </a:p>
          <a:p>
            <a:pPr algn="l" marL="353452" indent="-176726" lvl="1">
              <a:lnSpc>
                <a:spcPts val="3114"/>
              </a:lnSpc>
              <a:buFont typeface="Arial"/>
              <a:buChar char="•"/>
            </a:pPr>
            <a:r>
              <a:rPr lang="en-US" sz="1951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RAM usage</a:t>
            </a:r>
          </a:p>
          <a:p>
            <a:pPr algn="l" marL="353452" indent="-176726" lvl="1">
              <a:lnSpc>
                <a:spcPts val="3114"/>
              </a:lnSpc>
              <a:buFont typeface="Arial"/>
              <a:buChar char="•"/>
            </a:pPr>
            <a:r>
              <a:rPr lang="en-US" sz="1951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Disk usage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92991" y="6651565"/>
            <a:ext cx="6162875" cy="2070926"/>
          </a:xfrm>
          <a:custGeom>
            <a:avLst/>
            <a:gdLst/>
            <a:ahLst/>
            <a:cxnLst/>
            <a:rect r="r" b="b" t="t" l="l"/>
            <a:pathLst>
              <a:path h="2070926" w="6162875">
                <a:moveTo>
                  <a:pt x="0" y="0"/>
                </a:moveTo>
                <a:lnTo>
                  <a:pt x="6162875" y="0"/>
                </a:lnTo>
                <a:lnTo>
                  <a:pt x="6162875" y="2070925"/>
                </a:lnTo>
                <a:lnTo>
                  <a:pt x="0" y="20709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87" r="0" b="-287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327061" y="7454227"/>
            <a:ext cx="372351" cy="465449"/>
            <a:chOff x="0" y="0"/>
            <a:chExt cx="496468" cy="6205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6470" cy="620603"/>
            </a:xfrm>
            <a:custGeom>
              <a:avLst/>
              <a:gdLst/>
              <a:ahLst/>
              <a:cxnLst/>
              <a:rect r="r" b="b" t="t" l="l"/>
              <a:pathLst>
                <a:path h="620603" w="496470">
                  <a:moveTo>
                    <a:pt x="0" y="0"/>
                  </a:moveTo>
                  <a:lnTo>
                    <a:pt x="496470" y="0"/>
                  </a:lnTo>
                  <a:lnTo>
                    <a:pt x="496470" y="620603"/>
                  </a:lnTo>
                  <a:lnTo>
                    <a:pt x="0" y="62060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82" t="0" r="-11038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496468" cy="6205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12"/>
                </a:lnSpc>
              </a:pPr>
              <a:r>
                <a:rPr lang="en-US" sz="2927">
                  <a:solidFill>
                    <a:srgbClr val="1516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262711" y="6928304"/>
            <a:ext cx="2212181" cy="35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Process-Level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62711" y="7488241"/>
            <a:ext cx="4616415" cy="759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3452" indent="-176726" lvl="1">
              <a:lnSpc>
                <a:spcPts val="3114"/>
              </a:lnSpc>
              <a:buFont typeface="Arial"/>
              <a:buChar char="•"/>
            </a:pPr>
            <a:r>
              <a:rPr lang="en-US" sz="1951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Process CPU usage</a:t>
            </a:r>
          </a:p>
          <a:p>
            <a:pPr algn="l" marL="353452" indent="-176726" lvl="1">
              <a:lnSpc>
                <a:spcPts val="3114"/>
              </a:lnSpc>
              <a:buFont typeface="Arial"/>
              <a:buChar char="•"/>
            </a:pPr>
            <a:r>
              <a:rPr lang="en-US" sz="1951">
                <a:solidFill>
                  <a:srgbClr val="151617"/>
                </a:solidFill>
                <a:latin typeface="Fira Code"/>
                <a:ea typeface="Fira Code"/>
                <a:cs typeface="Fira Code"/>
                <a:sym typeface="Fira Code"/>
              </a:rPr>
              <a:t>Process RAM usage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592254" y="2933014"/>
            <a:ext cx="9904714" cy="6352632"/>
            <a:chOff x="0" y="0"/>
            <a:chExt cx="13206286" cy="84701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206222" cy="8470138"/>
            </a:xfrm>
            <a:custGeom>
              <a:avLst/>
              <a:gdLst/>
              <a:ahLst/>
              <a:cxnLst/>
              <a:rect r="r" b="b" t="t" l="l"/>
              <a:pathLst>
                <a:path h="8470138" w="13206222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13190982" y="0"/>
                  </a:lnTo>
                  <a:cubicBezTo>
                    <a:pt x="13199365" y="0"/>
                    <a:pt x="13206222" y="6858"/>
                    <a:pt x="13206222" y="15240"/>
                  </a:cubicBezTo>
                  <a:lnTo>
                    <a:pt x="13206222" y="8454898"/>
                  </a:lnTo>
                  <a:cubicBezTo>
                    <a:pt x="13206222" y="8463280"/>
                    <a:pt x="13199365" y="8470138"/>
                    <a:pt x="13190982" y="8470138"/>
                  </a:cubicBezTo>
                  <a:lnTo>
                    <a:pt x="15240" y="8470138"/>
                  </a:lnTo>
                  <a:cubicBezTo>
                    <a:pt x="6858" y="8470138"/>
                    <a:pt x="0" y="8463280"/>
                    <a:pt x="0" y="8454898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840389" y="3181160"/>
            <a:ext cx="9408443" cy="388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Fault Classification Classes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835627" y="3843661"/>
            <a:ext cx="4589612" cy="1955492"/>
            <a:chOff x="0" y="0"/>
            <a:chExt cx="6119482" cy="260732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19495" cy="2607310"/>
            </a:xfrm>
            <a:custGeom>
              <a:avLst/>
              <a:gdLst/>
              <a:ahLst/>
              <a:cxnLst/>
              <a:rect r="r" b="b" t="t" l="l"/>
              <a:pathLst>
                <a:path h="2607310" w="6119495">
                  <a:moveTo>
                    <a:pt x="0" y="15367"/>
                  </a:moveTo>
                  <a:cubicBezTo>
                    <a:pt x="0" y="6858"/>
                    <a:pt x="6858" y="0"/>
                    <a:pt x="15367" y="0"/>
                  </a:cubicBezTo>
                  <a:lnTo>
                    <a:pt x="6104128" y="0"/>
                  </a:lnTo>
                  <a:cubicBezTo>
                    <a:pt x="6112637" y="0"/>
                    <a:pt x="6119495" y="6858"/>
                    <a:pt x="6119495" y="15367"/>
                  </a:cubicBezTo>
                  <a:lnTo>
                    <a:pt x="6119495" y="2591943"/>
                  </a:lnTo>
                  <a:cubicBezTo>
                    <a:pt x="6119495" y="2600452"/>
                    <a:pt x="6112637" y="2607310"/>
                    <a:pt x="6104128" y="2607310"/>
                  </a:cubicBezTo>
                  <a:lnTo>
                    <a:pt x="15367" y="2607310"/>
                  </a:lnTo>
                  <a:cubicBezTo>
                    <a:pt x="6858" y="2607310"/>
                    <a:pt x="0" y="2600452"/>
                    <a:pt x="0" y="2591943"/>
                  </a:cubicBezTo>
                  <a:close/>
                </a:path>
              </a:pathLst>
            </a:custGeom>
            <a:solidFill>
              <a:srgbClr val="151617"/>
            </a:solidFill>
            <a:ln w="9532" cap="sq">
              <a:solidFill>
                <a:srgbClr val="151617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8098060" y="4106104"/>
            <a:ext cx="2227957" cy="35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CPU Overload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098060" y="4666040"/>
            <a:ext cx="4064746" cy="1149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Sustained high CPU utilisation triggering classification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663840" y="3843661"/>
            <a:ext cx="4589755" cy="1955492"/>
            <a:chOff x="0" y="0"/>
            <a:chExt cx="6119673" cy="260732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119749" cy="2607310"/>
            </a:xfrm>
            <a:custGeom>
              <a:avLst/>
              <a:gdLst/>
              <a:ahLst/>
              <a:cxnLst/>
              <a:rect r="r" b="b" t="t" l="l"/>
              <a:pathLst>
                <a:path h="2607310" w="6119749">
                  <a:moveTo>
                    <a:pt x="0" y="15367"/>
                  </a:moveTo>
                  <a:cubicBezTo>
                    <a:pt x="0" y="6858"/>
                    <a:pt x="6858" y="0"/>
                    <a:pt x="15367" y="0"/>
                  </a:cubicBezTo>
                  <a:lnTo>
                    <a:pt x="6104382" y="0"/>
                  </a:lnTo>
                  <a:cubicBezTo>
                    <a:pt x="6112891" y="0"/>
                    <a:pt x="6119749" y="6858"/>
                    <a:pt x="6119749" y="15367"/>
                  </a:cubicBezTo>
                  <a:lnTo>
                    <a:pt x="6119749" y="2591943"/>
                  </a:lnTo>
                  <a:cubicBezTo>
                    <a:pt x="6119749" y="2600452"/>
                    <a:pt x="6112891" y="2607310"/>
                    <a:pt x="6104382" y="2607310"/>
                  </a:cubicBezTo>
                  <a:lnTo>
                    <a:pt x="15367" y="2607310"/>
                  </a:lnTo>
                  <a:cubicBezTo>
                    <a:pt x="6858" y="2607310"/>
                    <a:pt x="0" y="2600452"/>
                    <a:pt x="0" y="2591943"/>
                  </a:cubicBezTo>
                  <a:close/>
                </a:path>
              </a:pathLst>
            </a:custGeom>
            <a:solidFill>
              <a:srgbClr val="151617"/>
            </a:solidFill>
            <a:ln w="9532" cap="sq">
              <a:solidFill>
                <a:srgbClr val="151617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2926273" y="4106104"/>
            <a:ext cx="2808089" cy="35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Memory Pressure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926273" y="4666040"/>
            <a:ext cx="4064889" cy="759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RAM saturation or resource starvation events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835627" y="6037764"/>
            <a:ext cx="9417968" cy="1558261"/>
            <a:chOff x="0" y="0"/>
            <a:chExt cx="12557290" cy="207768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557252" cy="2077720"/>
            </a:xfrm>
            <a:custGeom>
              <a:avLst/>
              <a:gdLst/>
              <a:ahLst/>
              <a:cxnLst/>
              <a:rect r="r" b="b" t="t" l="l"/>
              <a:pathLst>
                <a:path h="2077720" w="12557252">
                  <a:moveTo>
                    <a:pt x="0" y="15367"/>
                  </a:moveTo>
                  <a:cubicBezTo>
                    <a:pt x="0" y="6858"/>
                    <a:pt x="6858" y="0"/>
                    <a:pt x="15367" y="0"/>
                  </a:cubicBezTo>
                  <a:lnTo>
                    <a:pt x="12541885" y="0"/>
                  </a:lnTo>
                  <a:cubicBezTo>
                    <a:pt x="12550394" y="0"/>
                    <a:pt x="12557252" y="6858"/>
                    <a:pt x="12557252" y="15367"/>
                  </a:cubicBezTo>
                  <a:lnTo>
                    <a:pt x="12557252" y="2062353"/>
                  </a:lnTo>
                  <a:cubicBezTo>
                    <a:pt x="12557252" y="2070862"/>
                    <a:pt x="12550394" y="2077720"/>
                    <a:pt x="12541885" y="2077720"/>
                  </a:cubicBezTo>
                  <a:lnTo>
                    <a:pt x="15367" y="2077720"/>
                  </a:lnTo>
                  <a:cubicBezTo>
                    <a:pt x="6858" y="2077720"/>
                    <a:pt x="0" y="2070862"/>
                    <a:pt x="0" y="2062353"/>
                  </a:cubicBezTo>
                  <a:close/>
                </a:path>
              </a:pathLst>
            </a:custGeom>
            <a:solidFill>
              <a:srgbClr val="151617"/>
            </a:solidFill>
            <a:ln w="9532" cap="sq">
              <a:solidFill>
                <a:srgbClr val="151617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8098060" y="6300206"/>
            <a:ext cx="4649292" cy="35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Abnormal Process Behaviour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098060" y="6860143"/>
            <a:ext cx="8893102" cy="368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Rogue or misbehaving process behaviour detected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840389" y="7519826"/>
            <a:ext cx="9408443" cy="1540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The Recovery Engine selects the appropriate action for each fault class, verifies the system has returned to a stable state, and then logs the event to the recovery dataset for future learning.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8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09650"/>
            <a:ext cx="10929243" cy="71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  <a:spcBef>
                <a:spcPct val="0"/>
              </a:spcBef>
            </a:pPr>
            <a:r>
              <a:rPr lang="en-US" b="true" sz="46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Lite</a:t>
            </a:r>
            <a:r>
              <a:rPr lang="en-US" b="true" sz="46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rature → Gap → Proposed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86278"/>
            <a:ext cx="7627514" cy="54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2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the Literature Establishes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223132"/>
            <a:ext cx="7372159" cy="6126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•R</a:t>
            </a:r>
            <a:r>
              <a:rPr lang="en-US" sz="279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obust ML techniques for log anomaly detection exist and mature</a:t>
            </a:r>
          </a:p>
          <a:p>
            <a:pPr algn="l">
              <a:lnSpc>
                <a:spcPts val="3494"/>
              </a:lnSpc>
              <a:spcBef>
                <a:spcPct val="0"/>
              </a:spcBef>
            </a:pPr>
          </a:p>
          <a:p>
            <a:pPr algn="l">
              <a:lnSpc>
                <a:spcPts val="3494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•Deep learning and transformers generalise well to sequential fault patterns</a:t>
            </a:r>
          </a:p>
          <a:p>
            <a:pPr algn="l">
              <a:lnSpc>
                <a:spcPts val="3494"/>
              </a:lnSpc>
              <a:spcBef>
                <a:spcPct val="0"/>
              </a:spcBef>
            </a:pPr>
          </a:p>
          <a:p>
            <a:pPr algn="l">
              <a:lnSpc>
                <a:spcPts val="3494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•Automated remediation is feasible — demonstrated in cloud contexts</a:t>
            </a:r>
          </a:p>
          <a:p>
            <a:pPr algn="l">
              <a:lnSpc>
                <a:spcPts val="3494"/>
              </a:lnSpc>
              <a:spcBef>
                <a:spcPct val="0"/>
              </a:spcBef>
            </a:pPr>
          </a:p>
          <a:p>
            <a:pPr algn="l">
              <a:lnSpc>
                <a:spcPts val="3494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•Process and resource monitoring provide actionable OS-level signals</a:t>
            </a:r>
          </a:p>
          <a:p>
            <a:pPr algn="l">
              <a:lnSpc>
                <a:spcPts val="3494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773528" y="2386278"/>
            <a:ext cx="7627514" cy="54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2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SelfHealOS Contributes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87141" y="3223132"/>
            <a:ext cx="7372159" cy="2114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6" indent="-345438" lvl="1">
              <a:lnSpc>
                <a:spcPts val="3993"/>
              </a:lnSpc>
              <a:spcBef>
                <a:spcPct val="0"/>
              </a:spcBef>
              <a:buAutoNum type="arabicPeriod" startAt="1"/>
            </a:pPr>
            <a:r>
              <a:rPr lang="en-US" b="true" sz="31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 E</a:t>
            </a:r>
            <a:r>
              <a:rPr lang="en-US" b="true" sz="31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arlier Fault Detection</a:t>
            </a:r>
          </a:p>
          <a:p>
            <a:pPr algn="l">
              <a:lnSpc>
                <a:spcPts val="2995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Continuous OS-level resource monitoring identifies faults before cascading failure.</a:t>
            </a:r>
          </a:p>
          <a:p>
            <a:pPr algn="l">
              <a:lnSpc>
                <a:spcPts val="3993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887141" y="4934701"/>
            <a:ext cx="7372159" cy="1611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6" indent="-345438" lvl="1">
              <a:lnSpc>
                <a:spcPts val="3993"/>
              </a:lnSpc>
              <a:spcBef>
                <a:spcPct val="0"/>
              </a:spcBef>
              <a:buAutoNum type="arabicPeriod" startAt="1"/>
            </a:pPr>
            <a:r>
              <a:rPr lang="en-US" b="true" sz="31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 Intel</a:t>
            </a:r>
            <a:r>
              <a:rPr lang="en-US" b="true" sz="31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ligent Classification</a:t>
            </a:r>
          </a:p>
          <a:p>
            <a:pPr algn="l">
              <a:lnSpc>
                <a:spcPts val="2995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ML</a:t>
            </a:r>
            <a:r>
              <a:rPr lang="en-US" sz="239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-based multi-class fault classification replaces static threshold rules.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87141" y="6646270"/>
            <a:ext cx="7372159" cy="1611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6" indent="-345438" lvl="1">
              <a:lnSpc>
                <a:spcPts val="3993"/>
              </a:lnSpc>
              <a:spcBef>
                <a:spcPct val="0"/>
              </a:spcBef>
              <a:buAutoNum type="arabicPeriod" startAt="1"/>
            </a:pPr>
            <a:r>
              <a:rPr lang="en-US" b="true" sz="31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 A</a:t>
            </a:r>
            <a:r>
              <a:rPr lang="en-US" b="true" sz="31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utomated Recovery</a:t>
            </a:r>
          </a:p>
          <a:p>
            <a:pPr algn="l">
              <a:lnSpc>
                <a:spcPts val="2995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Fa</a:t>
            </a:r>
            <a:r>
              <a:rPr lang="en-US" sz="239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ult-class-specific recovery actions executed without manual intervention.</a:t>
            </a:r>
          </a:p>
          <a:p>
            <a:pPr algn="l">
              <a:lnSpc>
                <a:spcPts val="2995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887141" y="8172907"/>
            <a:ext cx="7372159" cy="2114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6" indent="-345438" lvl="1">
              <a:lnSpc>
                <a:spcPts val="3993"/>
              </a:lnSpc>
              <a:spcBef>
                <a:spcPct val="0"/>
              </a:spcBef>
              <a:buAutoNum type="arabicPeriod" startAt="1"/>
            </a:pPr>
            <a:r>
              <a:rPr lang="en-US" b="true" sz="31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 Ve</a:t>
            </a:r>
            <a:r>
              <a:rPr lang="en-US" b="true" sz="31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rified &amp; Logged Recovery</a:t>
            </a:r>
          </a:p>
          <a:p>
            <a:pPr algn="l">
              <a:lnSpc>
                <a:spcPts val="2995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n-US" sz="239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ost-recovery verification confirms stability; events logged for future learning.</a:t>
            </a:r>
          </a:p>
          <a:p>
            <a:pPr algn="l">
              <a:lnSpc>
                <a:spcPts val="399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8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76103" y="3981830"/>
            <a:ext cx="12335793" cy="2256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96"/>
              </a:lnSpc>
              <a:spcBef>
                <a:spcPct val="0"/>
              </a:spcBef>
            </a:pPr>
            <a:r>
              <a:rPr lang="en-US" b="true" sz="1474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DAHU6M4bwb4</dc:identifier>
  <dcterms:modified xsi:type="dcterms:W3CDTF">2011-08-01T06:04:30Z</dcterms:modified>
  <cp:revision>1</cp:revision>
  <dc:title>SelfHealOS_R2.pptx</dc:title>
</cp:coreProperties>
</file>